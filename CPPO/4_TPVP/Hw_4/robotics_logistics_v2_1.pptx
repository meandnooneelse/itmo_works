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808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C6280-BB5D-131A-B04D-49D28C01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00C40-C73C-E6D9-CF64-E61C27FA1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0D77E-0D02-1FAD-9D76-78253C2E5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B37B9-0EAD-18AF-F979-87CFB67E9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20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B2286-BC25-364C-50CD-3D1D4F743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>
            <a:extLst>
              <a:ext uri="{FF2B5EF4-FFF2-40B4-BE49-F238E27FC236}">
                <a16:creationId xmlns:a16="http://schemas.microsoft.com/office/drawing/2014/main" id="{C0A2B7D2-ADA0-2048-DE17-2084635E980A}"/>
              </a:ext>
            </a:extLst>
          </p:cNvPr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5C518">
              <a:alpha val="88000"/>
            </a:srgbClr>
          </a:solidFill>
          <a:ln w="12700">
            <a:solidFill>
              <a:srgbClr val="F5C51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98388424-85D9-CB0B-0191-E836C199581A}"/>
              </a:ext>
            </a:extLst>
          </p:cNvPr>
          <p:cNvSpPr/>
          <p:nvPr/>
        </p:nvSpPr>
        <p:spPr>
          <a:xfrm>
            <a:off x="5471160" y="0"/>
            <a:ext cx="283464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BA4C265-4052-0E3E-C168-A246AD90E7FB}"/>
              </a:ext>
            </a:extLst>
          </p:cNvPr>
          <p:cNvSpPr/>
          <p:nvPr/>
        </p:nvSpPr>
        <p:spPr>
          <a:xfrm>
            <a:off x="0" y="0"/>
            <a:ext cx="4572000" cy="5029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2FEDD29-73A4-0F0A-08AC-B954AC89B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920" y="502920"/>
            <a:ext cx="2194560" cy="2194560"/>
          </a:xfrm>
          <a:prstGeom prst="rect">
            <a:avLst/>
          </a:prstGeom>
        </p:spPr>
      </p:pic>
      <p:sp>
        <p:nvSpPr>
          <p:cNvPr id="34" name="Text 3">
            <a:extLst>
              <a:ext uri="{FF2B5EF4-FFF2-40B4-BE49-F238E27FC236}">
                <a16:creationId xmlns:a16="http://schemas.microsoft.com/office/drawing/2014/main" id="{C00BF98B-0A5E-DA76-BF0A-97147086F605}"/>
              </a:ext>
            </a:extLst>
          </p:cNvPr>
          <p:cNvSpPr/>
          <p:nvPr/>
        </p:nvSpPr>
        <p:spPr>
          <a:xfrm>
            <a:off x="411480" y="4572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kern="0" spc="-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РОБОТЫ</a:t>
            </a:r>
            <a:endParaRPr lang="en-US" sz="62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C4677ACF-8964-0CE1-379E-ADF26063996A}"/>
              </a:ext>
            </a:extLst>
          </p:cNvPr>
          <p:cNvSpPr/>
          <p:nvPr/>
        </p:nvSpPr>
        <p:spPr>
          <a:xfrm>
            <a:off x="411480" y="14173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 ЛОГИСТИКЕ</a:t>
            </a:r>
            <a:endParaRPr lang="en-US" sz="36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B10498A8-8926-5BA8-B687-06DE5A6A634F}"/>
              </a:ext>
            </a:extLst>
          </p:cNvPr>
          <p:cNvSpPr/>
          <p:nvPr/>
        </p:nvSpPr>
        <p:spPr>
          <a:xfrm>
            <a:off x="411480" y="2331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300" dirty="0" err="1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</a:t>
            </a:r>
            <a:r>
              <a:rPr lang="en-US" sz="1700" kern="0" spc="300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700" kern="0" spc="300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700" kern="0" spc="300" dirty="0" err="1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Упаковка</a:t>
            </a:r>
            <a:r>
              <a:rPr lang="ru-RU" sz="1700" kern="0" spc="300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700" kern="0" spc="300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Доставка</a:t>
            </a:r>
            <a:endParaRPr lang="en-US" sz="17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C500C99C-E271-485B-4AF4-99713EE2BA22}"/>
              </a:ext>
            </a:extLst>
          </p:cNvPr>
          <p:cNvSpPr/>
          <p:nvPr/>
        </p:nvSpPr>
        <p:spPr>
          <a:xfrm>
            <a:off x="411480" y="279806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роботизация меняет всю цепочку поставок 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что это значит для людей и бизнеса</a:t>
            </a:r>
            <a:endParaRPr lang="en-US" sz="13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4C3F6A32-F28E-3B97-49C3-AEA0D952D3C4}"/>
              </a:ext>
            </a:extLst>
          </p:cNvPr>
          <p:cNvSpPr/>
          <p:nvPr/>
        </p:nvSpPr>
        <p:spPr>
          <a:xfrm>
            <a:off x="297180" y="358444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508DE5CE-A30A-AE26-5A4B-DB83AD9DDBA4}"/>
              </a:ext>
            </a:extLst>
          </p:cNvPr>
          <p:cNvSpPr/>
          <p:nvPr/>
        </p:nvSpPr>
        <p:spPr>
          <a:xfrm>
            <a:off x="297180" y="35844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без простоев</a:t>
            </a:r>
            <a:endParaRPr lang="en-US" sz="100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23FE8888-DEEC-C690-F457-19EC4BA515A3}"/>
              </a:ext>
            </a:extLst>
          </p:cNvPr>
          <p:cNvSpPr/>
          <p:nvPr/>
        </p:nvSpPr>
        <p:spPr>
          <a:xfrm>
            <a:off x="1611630" y="404164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1E168B43-BC21-E648-F2D4-FC1681F1DE8C}"/>
              </a:ext>
            </a:extLst>
          </p:cNvPr>
          <p:cNvSpPr/>
          <p:nvPr/>
        </p:nvSpPr>
        <p:spPr>
          <a:xfrm>
            <a:off x="1611630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−50% опex</a:t>
            </a:r>
            <a:endParaRPr lang="en-US" sz="1000" dirty="0"/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083F4600-57BF-18C4-C7E3-B11D1E98F435}"/>
              </a:ext>
            </a:extLst>
          </p:cNvPr>
          <p:cNvSpPr/>
          <p:nvPr/>
        </p:nvSpPr>
        <p:spPr>
          <a:xfrm>
            <a:off x="2880360" y="4494276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9AE3CB4C-D50F-EE68-B4D3-C3F6E6732AA1}"/>
              </a:ext>
            </a:extLst>
          </p:cNvPr>
          <p:cNvSpPr/>
          <p:nvPr/>
        </p:nvSpPr>
        <p:spPr>
          <a:xfrm>
            <a:off x="2880360" y="44942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2–5 лет</a:t>
            </a:r>
            <a:endParaRPr lang="en-US" sz="100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47BFFDB8-4EC9-03A8-7A01-E68C6CE58645}"/>
              </a:ext>
            </a:extLst>
          </p:cNvPr>
          <p:cNvSpPr/>
          <p:nvPr/>
        </p:nvSpPr>
        <p:spPr>
          <a:xfrm>
            <a:off x="5334000" y="4389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5A0842DB-8B1E-3D87-164B-BD853C9D0673}"/>
              </a:ext>
            </a:extLst>
          </p:cNvPr>
          <p:cNvSpPr/>
          <p:nvPr/>
        </p:nvSpPr>
        <p:spPr>
          <a:xfrm>
            <a:off x="5334000" y="4663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111827"/>
                </a:solidFill>
                <a:latin typeface="Arial Black" pitchFamily="34" charset="0"/>
              </a:rPr>
              <a:t>Ануфриев Андрей 2026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83791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РОБОТЫ НА СКЛАДЕ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303520" cy="1170432"/>
          </a:xfrm>
          <a:prstGeom prst="rect">
            <a:avLst/>
          </a:prstGeom>
          <a:solidFill>
            <a:srgbClr val="1F2937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 / AGV — автономное движение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4356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Роботы перемещают паллеты и полки самостоятельно. Скорость — в 3–5× выше человека. Wildberries, Ozon и X5 уже запустили AMR на своих складах.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258568"/>
            <a:ext cx="5303520" cy="1170432"/>
          </a:xfrm>
          <a:prstGeom prst="rect">
            <a:avLst/>
          </a:prstGeom>
          <a:solidFill>
            <a:srgbClr val="1F2937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20040" y="2414016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234440" y="23500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RFID-дроны — инвентаризация за минуты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3405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учёта 99.9% против 65–85% при ручном подсчёте. X5 Group и «Магнит» применяют RFID-мониторинг на крупнейших РЦ.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557016"/>
            <a:ext cx="5303520" cy="1170432"/>
          </a:xfrm>
          <a:prstGeom prst="rect">
            <a:avLst/>
          </a:prstGeom>
          <a:solidFill>
            <a:srgbClr val="1F2937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320040" y="3712464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1234440" y="36484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Роботы-сортировщики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03250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1000–2500 посылок/час. Автоматическое распознавание штрихкодов и QR. Пересорт стремится к нулю.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594360" cy="59436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414016"/>
            <a:ext cx="594360" cy="594360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12464"/>
            <a:ext cx="594360" cy="59436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806440" y="960120"/>
            <a:ext cx="3154680" cy="1170432"/>
          </a:xfrm>
          <a:prstGeom prst="rect">
            <a:avLst/>
          </a:prstGeom>
          <a:solidFill>
            <a:srgbClr val="F5C518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17"/>
          <p:cNvSpPr/>
          <p:nvPr/>
        </p:nvSpPr>
        <p:spPr>
          <a:xfrm>
            <a:off x="5806440" y="98755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3–5×</a:t>
            </a:r>
            <a:endParaRPr lang="en-US" sz="4600" dirty="0"/>
          </a:p>
        </p:txBody>
      </p:sp>
      <p:sp>
        <p:nvSpPr>
          <p:cNvPr id="23" name="Text 18"/>
          <p:cNvSpPr/>
          <p:nvPr/>
        </p:nvSpPr>
        <p:spPr>
          <a:xfrm>
            <a:off x="5806440" y="17099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перемещение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806440" y="2258568"/>
            <a:ext cx="3154680" cy="1170432"/>
          </a:xfrm>
          <a:prstGeom prst="rect">
            <a:avLst/>
          </a:prstGeom>
          <a:solidFill>
            <a:srgbClr val="00FFD1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Text 20"/>
          <p:cNvSpPr/>
          <p:nvPr/>
        </p:nvSpPr>
        <p:spPr>
          <a:xfrm>
            <a:off x="5806440" y="228600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99.9%</a:t>
            </a:r>
            <a:endParaRPr lang="en-US" sz="4600" dirty="0"/>
          </a:p>
        </p:txBody>
      </p:sp>
      <p:sp>
        <p:nvSpPr>
          <p:cNvPr id="26" name="Text 21"/>
          <p:cNvSpPr/>
          <p:nvPr/>
        </p:nvSpPr>
        <p:spPr>
          <a:xfrm>
            <a:off x="5806440" y="300837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инвентаризации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806440" y="3557016"/>
            <a:ext cx="3154680" cy="1170432"/>
          </a:xfrm>
          <a:prstGeom prst="rect">
            <a:avLst/>
          </a:prstGeom>
          <a:solidFill>
            <a:srgbClr val="FF6B35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Text 23"/>
          <p:cNvSpPr/>
          <p:nvPr/>
        </p:nvSpPr>
        <p:spPr>
          <a:xfrm>
            <a:off x="5806440" y="358444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600" dirty="0"/>
          </a:p>
        </p:txBody>
      </p:sp>
      <p:sp>
        <p:nvSpPr>
          <p:cNvPr id="29" name="Text 24"/>
          <p:cNvSpPr/>
          <p:nvPr/>
        </p:nvSpPr>
        <p:spPr>
          <a:xfrm>
            <a:off x="5806440" y="430682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ошибок пересорта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УПАКОВКА И ПОГРУЗКА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577840" cy="1170432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64008" cy="1170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🦾  Паллетайзеры-манипуляторы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800–1200 коробок/час, точность ±1 мм. Системы от Ronavi Robotics и АО «СТА Роботикс» работают круглосуточно без усталости и травм.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258568"/>
            <a:ext cx="5577840" cy="1170432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228600" y="2258568"/>
            <a:ext cx="64008" cy="1170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11480" y="235000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Роботы-упаковщики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761488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Подбирают оптимальный размер коробки под каждый заказ. Ozon внедрил систему на РЦ в Твери — экономия упаковки 17%.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557016"/>
            <a:ext cx="5577840" cy="1170432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228600" y="3557016"/>
            <a:ext cx="64008" cy="1170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11480" y="364845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 Автоматические разгрузочные доки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405993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Фура разгружается за 20–30 мин вместо 2–3 часов. Решения внедряют ITSF и «Логистика 4.0» на крупных РЦ Wildberries и Ленты.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960120"/>
            <a:ext cx="2880360" cy="1170432"/>
          </a:xfrm>
          <a:prstGeom prst="rect">
            <a:avLst/>
          </a:prstGeom>
          <a:solidFill>
            <a:srgbClr val="FF6B35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035040" y="996696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×8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6035040" y="172821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разгрузка фуры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258568"/>
            <a:ext cx="2880360" cy="1170432"/>
          </a:xfrm>
          <a:prstGeom prst="rect">
            <a:avLst/>
          </a:prstGeom>
          <a:solidFill>
            <a:srgbClr val="F5C518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035040" y="2295144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−20%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6035040" y="302666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 упаковки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557016"/>
            <a:ext cx="2880360" cy="1170432"/>
          </a:xfrm>
          <a:prstGeom prst="rect">
            <a:avLst/>
          </a:prstGeom>
          <a:solidFill>
            <a:srgbClr val="00FFD1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035040" y="3593592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6035040" y="43251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травм при подъёме тяжестей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FF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ДОСТАВКА: ОТ </a:t>
            </a:r>
            <a:r>
              <a:rPr lang="ru-RU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СКЛАДА</a:t>
            </a: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ДО ДВЕРИ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88920" cy="658368"/>
          </a:xfrm>
          <a:prstGeom prst="rect">
            <a:avLst/>
          </a:prstGeom>
          <a:solidFill>
            <a:srgbClr val="F5C518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28600" y="9326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93268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Склад → Хаб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" y="1572768"/>
            <a:ext cx="2788920" cy="3246120"/>
          </a:xfrm>
          <a:prstGeom prst="rect">
            <a:avLst/>
          </a:prstGeom>
          <a:solidFill>
            <a:srgbClr val="1F2937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38328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Автономные грузовики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КАМАЗ Евразия · Яндекс Беспилотные · Cognitive Pilot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" y="2377440"/>
            <a:ext cx="2560320" cy="20117"/>
          </a:xfrm>
          <a:prstGeom prst="rect">
            <a:avLst/>
          </a:prstGeom>
          <a:solidFill>
            <a:srgbClr val="F5C518">
              <a:alpha val="45000"/>
            </a:srgbClr>
          </a:solidFill>
          <a:ln w="12700">
            <a:solidFill>
              <a:srgbClr val="F5C51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338328" y="2487168"/>
            <a:ext cx="54864" cy="43891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84632" y="248716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ограничений на режим труда и отдыха водителя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" y="3200400"/>
            <a:ext cx="54864" cy="43891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84632" y="320040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−30–40% затрат на маршруте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" y="3913632"/>
            <a:ext cx="54864" cy="43891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84632" y="391363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КАМАЗ — 1 000+ км без водителя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914400"/>
            <a:ext cx="2788920" cy="658368"/>
          </a:xfrm>
          <a:prstGeom prst="rect">
            <a:avLst/>
          </a:prstGeom>
          <a:solidFill>
            <a:srgbClr val="FF6B35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200400" y="9326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03320" y="93268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Хаб → Район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0" y="1572768"/>
            <a:ext cx="2788920" cy="3246120"/>
          </a:xfrm>
          <a:prstGeom prst="rect">
            <a:avLst/>
          </a:prstGeom>
          <a:solidFill>
            <a:srgbClr val="1F2937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3310128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AI-маршрутизация + электро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Маршрутизация · МТС Логистика · ГК «Деловые Линии»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2377440"/>
            <a:ext cx="2560320" cy="20117"/>
          </a:xfrm>
          <a:prstGeom prst="rect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3310128" y="2487168"/>
            <a:ext cx="54864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3456432" y="248716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Маршрутизация сокращает пробег на 15–20%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10128" y="3200400"/>
            <a:ext cx="54864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3456432" y="320040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Динамические окна доставки для маркетплейсов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10128" y="3913632"/>
            <a:ext cx="54864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3456432" y="391363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Электрокаргобайки в Москве и Питере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914400"/>
            <a:ext cx="2788920" cy="658368"/>
          </a:xfrm>
          <a:prstGeom prst="rect">
            <a:avLst/>
          </a:prstGeom>
          <a:solidFill>
            <a:srgbClr val="00FFD1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6172200" y="9326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675120" y="93268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Последняя миля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172200" y="1572768"/>
            <a:ext cx="2788920" cy="3246120"/>
          </a:xfrm>
          <a:prstGeom prst="rect">
            <a:avLst/>
          </a:prstGeom>
          <a:solidFill>
            <a:srgbClr val="1F2937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6281928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Дроны и наземные роверы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81928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Ровер · Почта России (дроны) · SberLogistics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81928" y="2377440"/>
            <a:ext cx="2560320" cy="20117"/>
          </a:xfrm>
          <a:prstGeom prst="rect">
            <a:avLst/>
          </a:prstGeom>
          <a:solidFill>
            <a:srgbClr val="00FFD1">
              <a:alpha val="45000"/>
            </a:srgbClr>
          </a:solidFill>
          <a:ln w="12700">
            <a:solidFill>
              <a:srgbClr val="00FFD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6281928" y="2487168"/>
            <a:ext cx="54864" cy="43891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6428232" y="248716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Ровер — 100 000+ доставок в Москве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81928" y="3200400"/>
            <a:ext cx="54864" cy="43891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6428232" y="320040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Почта России тестирует дроны в Якутии и Чукотке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81928" y="3913632"/>
            <a:ext cx="54864" cy="43891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6428232" y="391363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в 3–5 ниже курьера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944368" y="19202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CA3AF"/>
                </a:solidFill>
              </a:rPr>
              <a:t>›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5916168" y="19202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CA3AF"/>
                </a:solidFill>
              </a:rPr>
              <a:t>›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51560" y="5510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КТО ВЫИГРЫВАЕТ — А КТО МЕНЯЕТ РОЛЬ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611000"/>
            <a:ext cx="2788920" cy="475488"/>
          </a:xfrm>
          <a:prstGeom prst="rect">
            <a:avLst/>
          </a:prstGeom>
          <a:solidFill>
            <a:srgbClr val="F5C518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28600" y="6110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РАБОТНИКИ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177928"/>
            <a:ext cx="2788920" cy="26239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38328" y="1196216"/>
            <a:ext cx="2560320" cy="22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ЧТО СТАНОВИТСЯ ЛУЧШЕ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452248"/>
            <a:ext cx="2788920" cy="1994213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38328" y="1488824"/>
            <a:ext cx="2560320" cy="542286"/>
          </a:xfrm>
          <a:prstGeom prst="roundRect">
            <a:avLst>
              <a:gd name="adj" fmla="val 80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338328" y="1488824"/>
            <a:ext cx="54864" cy="54228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66344" y="1488824"/>
            <a:ext cx="2377440" cy="54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Физически опасный труд → контроль и настройка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" y="2147192"/>
            <a:ext cx="2560320" cy="542286"/>
          </a:xfrm>
          <a:prstGeom prst="roundRect">
            <a:avLst>
              <a:gd name="adj" fmla="val 80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338328" y="2147192"/>
            <a:ext cx="54864" cy="54228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66344" y="2147192"/>
            <a:ext cx="2377440" cy="54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профессии: оператор AMR, инженер WMS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" y="2805560"/>
            <a:ext cx="2560320" cy="542286"/>
          </a:xfrm>
          <a:prstGeom prst="roundRect">
            <a:avLst>
              <a:gd name="adj" fmla="val 80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338328" y="2805560"/>
            <a:ext cx="54864" cy="54228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66344" y="2805560"/>
            <a:ext cx="2377440" cy="54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монотонных смен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537080"/>
            <a:ext cx="2788920" cy="26239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38328" y="3555368"/>
            <a:ext cx="2560320" cy="22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РИСКИ И ИЗМЕНЕНИЯ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811400"/>
            <a:ext cx="2788920" cy="1276996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338328" y="3857120"/>
            <a:ext cx="2560320" cy="507300"/>
          </a:xfrm>
          <a:prstGeom prst="roundRect">
            <a:avLst>
              <a:gd name="adj" fmla="val 8621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338328" y="3857120"/>
            <a:ext cx="54864" cy="5073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66344" y="3857120"/>
            <a:ext cx="2377440" cy="50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Грузчики, сортировщики, инвентаризаторы — сокращения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" y="4478912"/>
            <a:ext cx="2560320" cy="507300"/>
          </a:xfrm>
          <a:prstGeom prst="roundRect">
            <a:avLst>
              <a:gd name="adj" fmla="val 8621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338328" y="4478912"/>
            <a:ext cx="54864" cy="5073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66344" y="4478912"/>
            <a:ext cx="2377440" cy="50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переквалификация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611000"/>
            <a:ext cx="2788920" cy="475488"/>
          </a:xfrm>
          <a:prstGeom prst="rect">
            <a:avLst/>
          </a:prstGeom>
          <a:solidFill>
            <a:srgbClr val="00FFD1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3200400" y="6110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МЕНЕДЖЕРЫ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0" y="1177928"/>
            <a:ext cx="2788920" cy="26239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3310128" y="1196216"/>
            <a:ext cx="2560320" cy="22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ЧТО СТАНОВИТСЯ ЛУЧШЕ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1452248"/>
            <a:ext cx="2788920" cy="1994213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3310128" y="1488824"/>
            <a:ext cx="2560320" cy="542286"/>
          </a:xfrm>
          <a:prstGeom prst="roundRect">
            <a:avLst>
              <a:gd name="adj" fmla="val 80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3310128" y="1488824"/>
            <a:ext cx="54864" cy="542286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3438144" y="1488824"/>
            <a:ext cx="2377440" cy="54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в реальном времени → быстрые решения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10128" y="2147192"/>
            <a:ext cx="2560320" cy="542286"/>
          </a:xfrm>
          <a:prstGeom prst="roundRect">
            <a:avLst>
              <a:gd name="adj" fmla="val 80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Shape 36"/>
          <p:cNvSpPr/>
          <p:nvPr/>
        </p:nvSpPr>
        <p:spPr>
          <a:xfrm>
            <a:off x="3310128" y="2147192"/>
            <a:ext cx="54864" cy="542286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3438144" y="2147192"/>
            <a:ext cx="2377440" cy="54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видны автоматически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10128" y="2805560"/>
            <a:ext cx="2560320" cy="542286"/>
          </a:xfrm>
          <a:prstGeom prst="roundRect">
            <a:avLst>
              <a:gd name="adj" fmla="val 80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Shape 39"/>
          <p:cNvSpPr/>
          <p:nvPr/>
        </p:nvSpPr>
        <p:spPr>
          <a:xfrm>
            <a:off x="3310128" y="2805560"/>
            <a:ext cx="54864" cy="542286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3438144" y="2805560"/>
            <a:ext cx="2377440" cy="54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 ручным Excel-учётам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0400" y="3537080"/>
            <a:ext cx="2788920" cy="26239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3310128" y="3555368"/>
            <a:ext cx="2560320" cy="22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РИСКИ И ИЗМЕНЕНИЯ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0" y="3811400"/>
            <a:ext cx="2788920" cy="1276996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6" name="Shape 44"/>
          <p:cNvSpPr/>
          <p:nvPr/>
        </p:nvSpPr>
        <p:spPr>
          <a:xfrm>
            <a:off x="3310128" y="3857120"/>
            <a:ext cx="2560320" cy="507300"/>
          </a:xfrm>
          <a:prstGeom prst="roundRect">
            <a:avLst>
              <a:gd name="adj" fmla="val 8621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7" name="Shape 45"/>
          <p:cNvSpPr/>
          <p:nvPr/>
        </p:nvSpPr>
        <p:spPr>
          <a:xfrm>
            <a:off x="3310128" y="3857120"/>
            <a:ext cx="54864" cy="5073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3438144" y="3857120"/>
            <a:ext cx="2377440" cy="50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Сложнее управлять командами людей + ИИ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310128" y="4478912"/>
            <a:ext cx="2560320" cy="507300"/>
          </a:xfrm>
          <a:prstGeom prst="roundRect">
            <a:avLst>
              <a:gd name="adj" fmla="val 8621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0" name="Shape 48"/>
          <p:cNvSpPr/>
          <p:nvPr/>
        </p:nvSpPr>
        <p:spPr>
          <a:xfrm>
            <a:off x="3310128" y="4478912"/>
            <a:ext cx="54864" cy="5073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3438144" y="4478912"/>
            <a:ext cx="2377440" cy="50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 новые метрики и компетенции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172200" y="611000"/>
            <a:ext cx="2788920" cy="475488"/>
          </a:xfrm>
          <a:prstGeom prst="rect">
            <a:avLst/>
          </a:prstGeom>
          <a:solidFill>
            <a:srgbClr val="FF6B35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3" name="Text 51"/>
          <p:cNvSpPr/>
          <p:nvPr/>
        </p:nvSpPr>
        <p:spPr>
          <a:xfrm>
            <a:off x="6172200" y="6110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ВЛАДЕЛЬЦЫ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172200" y="1177928"/>
            <a:ext cx="2788920" cy="26239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5" name="Text 53"/>
          <p:cNvSpPr/>
          <p:nvPr/>
        </p:nvSpPr>
        <p:spPr>
          <a:xfrm>
            <a:off x="6281928" y="1196216"/>
            <a:ext cx="2560320" cy="22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ЧТО СТАНОВИТСЯ ЛУЧШЕ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72200" y="1452248"/>
            <a:ext cx="2788920" cy="1994213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7" name="Shape 55"/>
          <p:cNvSpPr/>
          <p:nvPr/>
        </p:nvSpPr>
        <p:spPr>
          <a:xfrm>
            <a:off x="6281928" y="1488824"/>
            <a:ext cx="2560320" cy="542286"/>
          </a:xfrm>
          <a:prstGeom prst="roundRect">
            <a:avLst>
              <a:gd name="adj" fmla="val 80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8" name="Shape 56"/>
          <p:cNvSpPr/>
          <p:nvPr/>
        </p:nvSpPr>
        <p:spPr>
          <a:xfrm>
            <a:off x="6281928" y="1488824"/>
            <a:ext cx="54864" cy="54228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6409944" y="1488824"/>
            <a:ext cx="2377440" cy="54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−40–60% фонда оплаты труда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81928" y="2147192"/>
            <a:ext cx="2560320" cy="542286"/>
          </a:xfrm>
          <a:prstGeom prst="roundRect">
            <a:avLst>
              <a:gd name="adj" fmla="val 80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1" name="Shape 59"/>
          <p:cNvSpPr/>
          <p:nvPr/>
        </p:nvSpPr>
        <p:spPr>
          <a:xfrm>
            <a:off x="6281928" y="2147192"/>
            <a:ext cx="54864" cy="54228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6409944" y="2147192"/>
            <a:ext cx="2377440" cy="54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объём без +30% штата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281928" y="2805560"/>
            <a:ext cx="2560320" cy="542286"/>
          </a:xfrm>
          <a:prstGeom prst="roundRect">
            <a:avLst>
              <a:gd name="adj" fmla="val 8065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4" name="Shape 62"/>
          <p:cNvSpPr/>
          <p:nvPr/>
        </p:nvSpPr>
        <p:spPr>
          <a:xfrm>
            <a:off x="6281928" y="2805560"/>
            <a:ext cx="54864" cy="54228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5" name="Text 63"/>
          <p:cNvSpPr/>
          <p:nvPr/>
        </p:nvSpPr>
        <p:spPr>
          <a:xfrm>
            <a:off x="6409944" y="2805560"/>
            <a:ext cx="2377440" cy="54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2–5 лет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172200" y="3537080"/>
            <a:ext cx="2788920" cy="26239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7" name="Text 65"/>
          <p:cNvSpPr/>
          <p:nvPr/>
        </p:nvSpPr>
        <p:spPr>
          <a:xfrm>
            <a:off x="6281928" y="3555368"/>
            <a:ext cx="2560320" cy="22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РИСКИ И ИЗМЕНЕНИЯ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72200" y="3811400"/>
            <a:ext cx="2788920" cy="1276996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9" name="Shape 67"/>
          <p:cNvSpPr/>
          <p:nvPr/>
        </p:nvSpPr>
        <p:spPr>
          <a:xfrm>
            <a:off x="6281928" y="3857120"/>
            <a:ext cx="2560320" cy="507300"/>
          </a:xfrm>
          <a:prstGeom prst="roundRect">
            <a:avLst>
              <a:gd name="adj" fmla="val 8621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0" name="Shape 68"/>
          <p:cNvSpPr/>
          <p:nvPr/>
        </p:nvSpPr>
        <p:spPr>
          <a:xfrm>
            <a:off x="6281928" y="3857120"/>
            <a:ext cx="54864" cy="5073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1" name="Text 69"/>
          <p:cNvSpPr/>
          <p:nvPr/>
        </p:nvSpPr>
        <p:spPr>
          <a:xfrm>
            <a:off x="6409944" y="3857120"/>
            <a:ext cx="2377440" cy="50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Высокие капзатраты на старте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281928" y="4478912"/>
            <a:ext cx="2560320" cy="507300"/>
          </a:xfrm>
          <a:prstGeom prst="roundRect">
            <a:avLst>
              <a:gd name="adj" fmla="val 8621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3" name="Shape 71"/>
          <p:cNvSpPr/>
          <p:nvPr/>
        </p:nvSpPr>
        <p:spPr>
          <a:xfrm>
            <a:off x="6281928" y="4478912"/>
            <a:ext cx="54864" cy="5073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4" name="Text 72"/>
          <p:cNvSpPr/>
          <p:nvPr/>
        </p:nvSpPr>
        <p:spPr>
          <a:xfrm>
            <a:off x="6409944" y="4478912"/>
            <a:ext cx="2377440" cy="50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кибератак и техсбоев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27432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СКОЛЬКО СТОИТ ПЕРЕХОД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297680" cy="621792"/>
          </a:xfrm>
          <a:prstGeom prst="rect">
            <a:avLst/>
          </a:prstGeom>
          <a:solidFill>
            <a:srgbClr val="F5C518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28600" y="8412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МОДЕРНИЗАЦИЯ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" y="1170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существующего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481328"/>
            <a:ext cx="4297680" cy="59436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93192" y="14813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481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$3–10 млн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103120"/>
            <a:ext cx="4297680" cy="59436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93192" y="2103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103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года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2724912"/>
            <a:ext cx="4297680" cy="59436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393192" y="272491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27249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лет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" y="3346704"/>
            <a:ext cx="4297680" cy="59436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93192" y="334670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34670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Частично сохраняется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4059936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F5C518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228600" y="40599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Рекомендуется при объёме &gt; 50К пал/мес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4297680" cy="621792"/>
          </a:xfrm>
          <a:prstGeom prst="rect">
            <a:avLst/>
          </a:prstGeom>
          <a:solidFill>
            <a:srgbClr val="00FFD1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754880" y="8412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 НУЛЯ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54880" y="1170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dark warehouse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1481328"/>
            <a:ext cx="4297680" cy="59436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919472" y="14813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1481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$30–150 млн+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103120"/>
            <a:ext cx="4297680" cy="59436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4919472" y="2103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2103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года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2724912"/>
            <a:ext cx="4297680" cy="59436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4919472" y="272491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27249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 лет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3346704"/>
            <a:ext cx="4297680" cy="59436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4919472" y="334670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334670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−50–70% vs ручной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4059936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00FFD1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4754880" y="40599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Оптимально при объёме &gt; 200К пал/мес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вопрос: текущий объём и горизонт окупаемости, который готов принять акционер.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 ЦИФРАХ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86000" y="768096"/>
            <a:ext cx="4572000" cy="411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155448" y="960120"/>
            <a:ext cx="2944368" cy="1737360"/>
          </a:xfrm>
          <a:prstGeom prst="rect">
            <a:avLst/>
          </a:prstGeom>
          <a:solidFill>
            <a:srgbClr val="F5C518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55448" y="1033272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3–5×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65176" y="2039112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перемещение на складе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91256" y="960120"/>
            <a:ext cx="2944368" cy="1737360"/>
          </a:xfrm>
          <a:prstGeom prst="rect">
            <a:avLst/>
          </a:prstGeom>
          <a:solidFill>
            <a:srgbClr val="00FFD1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191256" y="1033272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$0.25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00984" y="2039112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дроном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$8 с курьером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27064" y="960120"/>
            <a:ext cx="2944368" cy="1737360"/>
          </a:xfrm>
          <a:prstGeom prst="rect">
            <a:avLst/>
          </a:prstGeom>
          <a:solidFill>
            <a:srgbClr val="FF6B35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227064" y="1033272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336792" y="2039112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RFID-инвентаризации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5448" y="2788920"/>
            <a:ext cx="2944368" cy="1737360"/>
          </a:xfrm>
          <a:prstGeom prst="rect">
            <a:avLst/>
          </a:prstGeom>
          <a:solidFill>
            <a:srgbClr val="1F2937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55448" y="2862072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−50%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65176" y="3867912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расходы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автосклада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91256" y="2788920"/>
            <a:ext cx="2944368" cy="1737360"/>
          </a:xfrm>
          <a:prstGeom prst="rect">
            <a:avLst/>
          </a:prstGeom>
          <a:solidFill>
            <a:srgbClr val="374151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3191256" y="2862072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FF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2–5 лет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300984" y="3867912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F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27064" y="2788920"/>
            <a:ext cx="2944368" cy="1737360"/>
          </a:xfrm>
          <a:prstGeom prst="rect">
            <a:avLst/>
          </a:prstGeom>
          <a:solidFill>
            <a:srgbClr val="1F2937"/>
          </a:solidFill>
          <a:ln/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227064" y="2862072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336792" y="3867912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ежегодный рост рынка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складских роботов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1031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ИТОГИ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74320" y="2834640"/>
            <a:ext cx="3474720" cy="384048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274320" y="2834640"/>
            <a:ext cx="3474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Роботы охватывают всю цепочку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3255264"/>
            <a:ext cx="3474720" cy="384048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274320" y="3255264"/>
            <a:ext cx="3474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Работники меняют роль, не исчезают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3675888"/>
            <a:ext cx="3474720" cy="384048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274320" y="3675888"/>
            <a:ext cx="3474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100" b="1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Менеджеры</a:t>
            </a: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данные в реальном времени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4096512"/>
            <a:ext cx="3474720" cy="384048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274320" y="4096512"/>
            <a:ext cx="3474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Владельцы: </a:t>
            </a:r>
            <a:r>
              <a:rPr lang="ru-RU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 </a:t>
            </a: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r>
              <a:rPr lang="ru-RU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ФОТ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4517136"/>
            <a:ext cx="3474720" cy="384048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274320" y="4517136"/>
            <a:ext cx="3474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Модернизация быстрее, чем с нуля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60520" y="182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ДАЛЬШЕ?</a:t>
            </a:r>
            <a:endParaRPr lang="en-US" sz="4400" dirty="0"/>
          </a:p>
        </p:txBody>
      </p:sp>
      <p:sp>
        <p:nvSpPr>
          <p:cNvPr id="16" name="Shape 13"/>
          <p:cNvSpPr/>
          <p:nvPr/>
        </p:nvSpPr>
        <p:spPr>
          <a:xfrm>
            <a:off x="4160520" y="1417320"/>
            <a:ext cx="4754880" cy="36576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4160520" y="1572768"/>
            <a:ext cx="4754880" cy="749808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4160520" y="1572768"/>
            <a:ext cx="64008" cy="749808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251960" y="157276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4754880" y="16276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текущих процессов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197510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узкие места и зоны с максимальным ROI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160520" y="2414016"/>
            <a:ext cx="4754880" cy="749808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4160520" y="2414016"/>
            <a:ext cx="64008" cy="749808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4251960" y="241401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4754880" y="2468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в одной зоне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754880" y="281635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AMR на одном участке склада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60520" y="3255264"/>
            <a:ext cx="4754880" cy="749808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5"/>
          <p:cNvSpPr/>
          <p:nvPr/>
        </p:nvSpPr>
        <p:spPr>
          <a:xfrm>
            <a:off x="4160520" y="3255264"/>
            <a:ext cx="64008" cy="749808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/>
          <p:nvPr/>
        </p:nvSpPr>
        <p:spPr>
          <a:xfrm>
            <a:off x="4251960" y="325526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4754880" y="33101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с интегратором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754880" y="365760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Считать реальную экономику с учётом Capex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160520" y="4096512"/>
            <a:ext cx="4754880" cy="749808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Shape 30"/>
          <p:cNvSpPr/>
          <p:nvPr/>
        </p:nvSpPr>
        <p:spPr>
          <a:xfrm>
            <a:off x="4160520" y="4096512"/>
            <a:ext cx="64008" cy="749808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/>
          <p:nvPr/>
        </p:nvSpPr>
        <p:spPr>
          <a:xfrm>
            <a:off x="4251960" y="40965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4754880" y="41513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Переподготовка команды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754880" y="4498848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Параллельно с автоматизацией — обучение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160520" y="4828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Спасибо! Вопросы?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660</Words>
  <Application>Microsoft Office PowerPoint</Application>
  <PresentationFormat>Экран (16:9)</PresentationFormat>
  <Paragraphs>161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Ануфриев Андрей Сергеевич</cp:lastModifiedBy>
  <cp:revision>2</cp:revision>
  <dcterms:created xsi:type="dcterms:W3CDTF">2026-05-10T12:21:52Z</dcterms:created>
  <dcterms:modified xsi:type="dcterms:W3CDTF">2026-05-10T12:36:15Z</dcterms:modified>
</cp:coreProperties>
</file>