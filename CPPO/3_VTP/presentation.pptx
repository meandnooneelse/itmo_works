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98632-0C7A-47AB-A673-07E71A69AACF}" v="2" dt="2025-12-20T21:32:39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NU LNU" userId="d21bdd09-c944-4107-99ee-b7ff2b5552da" providerId="ADAL" clId="{E15AD5FE-FF94-4AC7-98FC-BE2A3803D955}"/>
    <pc:docChg chg="modSld">
      <pc:chgData name="FNU LNU" userId="d21bdd09-c944-4107-99ee-b7ff2b5552da" providerId="ADAL" clId="{E15AD5FE-FF94-4AC7-98FC-BE2A3803D955}" dt="2025-12-20T19:54:40.040" v="21" actId="14100"/>
      <pc:docMkLst>
        <pc:docMk/>
      </pc:docMkLst>
      <pc:sldChg chg="modSp mod">
        <pc:chgData name="FNU LNU" userId="d21bdd09-c944-4107-99ee-b7ff2b5552da" providerId="ADAL" clId="{E15AD5FE-FF94-4AC7-98FC-BE2A3803D955}" dt="2025-12-20T19:54:40.040" v="21" actId="14100"/>
        <pc:sldMkLst>
          <pc:docMk/>
          <pc:sldMk cId="2106707736" sldId="267"/>
        </pc:sldMkLst>
        <pc:spChg chg="mod">
          <ac:chgData name="FNU LNU" userId="d21bdd09-c944-4107-99ee-b7ff2b5552da" providerId="ADAL" clId="{E15AD5FE-FF94-4AC7-98FC-BE2A3803D955}" dt="2025-12-20T19:54:40.040" v="21" actId="14100"/>
          <ac:spMkLst>
            <pc:docMk/>
            <pc:sldMk cId="2106707736" sldId="267"/>
            <ac:spMk id="15" creationId="{11838CDD-0A5A-00C2-4469-06C93F130F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05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EDCD7-9B91-C83E-43F6-DD73D9E4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234FC-D3A7-B950-5479-51595C1D9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CB10F-7D69-9155-8162-6279B8355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E96FC-64DB-20FD-81E9-A899D5B09F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9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eandnooneelse.github.io/UmbraMate/presentatio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E9CA5-B4A2-23FA-F54B-DC5C663C9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C05CFE7-B74B-588B-D26B-DF9D9B727248}"/>
              </a:ext>
            </a:extLst>
          </p:cNvPr>
          <p:cNvSpPr/>
          <p:nvPr/>
        </p:nvSpPr>
        <p:spPr>
          <a:xfrm>
            <a:off x="2837409" y="719678"/>
            <a:ext cx="3469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Umbra Mate</a:t>
            </a:r>
            <a:endParaRPr lang="en-US" sz="45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11838CDD-0A5A-00C2-4469-06C93F130F2E}"/>
              </a:ext>
            </a:extLst>
          </p:cNvPr>
          <p:cNvSpPr/>
          <p:nvPr/>
        </p:nvSpPr>
        <p:spPr>
          <a:xfrm>
            <a:off x="2488676" y="1924050"/>
            <a:ext cx="4053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50"/>
              </a:lnSpc>
            </a:pPr>
            <a:r>
              <a:rPr lang="ru-RU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универсальный</a:t>
            </a: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AI-ассистент</a:t>
            </a:r>
            <a:endParaRPr lang="en-US" sz="2250" dirty="0"/>
          </a:p>
          <a:p>
            <a:pPr marL="0" indent="0">
              <a:lnSpc>
                <a:spcPts val="3150"/>
              </a:lnSpc>
              <a:buNone/>
            </a:pPr>
            <a:r>
              <a:rPr lang="en-US" sz="22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планирования </a:t>
            </a:r>
            <a:r>
              <a:rPr lang="en-US" sz="22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жизни</a:t>
            </a:r>
            <a:endParaRPr lang="en-US" sz="225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CA8EE78-42E2-6EE6-F019-BF62D0D9C161}"/>
              </a:ext>
            </a:extLst>
          </p:cNvPr>
          <p:cNvSpPr/>
          <p:nvPr/>
        </p:nvSpPr>
        <p:spPr>
          <a:xfrm>
            <a:off x="6240544" y="3468337"/>
            <a:ext cx="2293858" cy="58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ru-RU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</a:t>
            </a: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Ануфриев Андрей</a:t>
            </a:r>
          </a:p>
          <a:p>
            <a:pPr marL="0" indent="0">
              <a:lnSpc>
                <a:spcPts val="1890"/>
              </a:lnSpc>
              <a:buNone/>
            </a:pPr>
            <a:endParaRPr lang="ru-RU" sz="1350" b="1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1890"/>
              </a:lnSpc>
              <a:buNone/>
            </a:pPr>
            <a:r>
              <a:rPr lang="ru-RU" sz="135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Команда: Торопов Павел</a:t>
            </a:r>
          </a:p>
          <a:p>
            <a:pPr marL="0" indent="0">
              <a:lnSpc>
                <a:spcPts val="1890"/>
              </a:lnSpc>
              <a:buNone/>
            </a:pPr>
            <a:r>
              <a:rPr lang="ru-RU" sz="135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Пахомов Даниил</a:t>
            </a:r>
          </a:p>
          <a:p>
            <a:pPr>
              <a:lnSpc>
                <a:spcPts val="1890"/>
              </a:lnSpc>
            </a:pPr>
            <a:r>
              <a:rPr lang="ru-RU" sz="135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Смородин Егор</a:t>
            </a:r>
          </a:p>
          <a:p>
            <a:pPr marL="0" indent="0" algn="r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27285FB-5359-72B2-7EF5-3D9F227E12CC}"/>
              </a:ext>
            </a:extLst>
          </p:cNvPr>
          <p:cNvSpPr/>
          <p:nvPr/>
        </p:nvSpPr>
        <p:spPr>
          <a:xfrm>
            <a:off x="6390554" y="4347210"/>
            <a:ext cx="214384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0670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817" y="275480"/>
            <a:ext cx="8710365" cy="127216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6819" y="1826392"/>
            <a:ext cx="8710363" cy="157458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6819" y="3631874"/>
            <a:ext cx="8710365" cy="123614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1118" y="373280"/>
            <a:ext cx="8329286" cy="25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идея: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8219" y="641885"/>
            <a:ext cx="8472185" cy="674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Система, которая объединяет все аспекты жизни человека (расписание, цели, финансы, здоровье, отдых) и работает как умный двойник: знает что делать дальше, мотивирует, рекомендует и нежно воспитывает полезные привычки через встраивание событий в расписание.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7800" y="1935562"/>
            <a:ext cx="8329286" cy="25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Боль, которую мы закрываем: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8220" y="2373241"/>
            <a:ext cx="8472184" cy="89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Выпускники школы/университета теряются в жизни и не знают что делать. 😰 Люди ощущают тревожность и неопределённость. 🔄 Консервативные люди не любят менять привычки, даже если это плохо для них. ⏰ Заняты люди тратят время на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❌ Нет системы, которая бы помогла развиваться и не срывать цели.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1118" y="3751673"/>
            <a:ext cx="8329286" cy="25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делаем мир лучше: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219" y="4124548"/>
            <a:ext cx="8472185" cy="487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Даём каждому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персональную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поддержку</a:t>
            </a:r>
            <a:r>
              <a:rPr lang="ru-RU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помогаем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развиваться через встраивание полезных привычек, снижаем тревожность через ясность и планирование,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даём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уверенность</a:t>
            </a:r>
            <a:r>
              <a:rPr lang="ru-RU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ru-RU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будующем</a:t>
            </a:r>
            <a:r>
              <a:rPr lang="ru-RU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Даём представление,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делать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Ценностное предложение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даём пользователю: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512570"/>
            <a:ext cx="76200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система планирования: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день, неделя, месяц, год и вся жизнь в одном месте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мотивации: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стрики, уровни, достижения, челленджи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следующего шага: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учится и рекомендует, что попробовать дальше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Воспитание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через встраивание: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незаметно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подталкивает к полезным привычкам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</a:t>
            </a: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новые идеи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Чёткая структурированная </a:t>
            </a:r>
            <a:r>
              <a:rPr lang="ru-RU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жизнь вместо хаоса</a:t>
            </a: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приложение превращает «я не знаю, что делать дальше» в понятный план на день/неделю/год.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тревоги и чувства вины</a:t>
            </a: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меньше прокрастинации, потому что есть понятный следующий шаг и адекватная нагрузка.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70441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28311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партнеры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17348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нам поможет масштабировать: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480" y="1695450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Технологические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92480" y="1896547"/>
            <a:ext cx="771022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Maps/Calendar API, Yandex, LLM-провайдеры (OpenAI, Anthropic), облачные платформы (AWS, Yandex Cloud)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92480" y="2753320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</a:t>
            </a:r>
            <a:r>
              <a:rPr lang="en-US" sz="132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</a:t>
            </a: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сетевые </a:t>
            </a:r>
            <a:r>
              <a:rPr lang="en-US" sz="132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бизнесы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92480" y="2954417"/>
            <a:ext cx="771022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рестораны, спортзалы, клиники, кинотеатры, </a:t>
            </a:r>
            <a:r>
              <a:rPr lang="en-US" sz="108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магазины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92480" y="3811191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Финансовые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92480" y="4012288"/>
            <a:ext cx="771022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8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инвестплатформы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виды деятельности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551338"/>
            <a:ext cx="7620000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 разработка: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модели для предсказания предпочтений, рекомендационные системы, обработка естественного языка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модульная архитектура (Java + Spring Boot backend, Android/iOS мобильные клиенты, веб-версия)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синхронизация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банками, трекерами здоровья, картами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Партнёрский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менеджмент: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договоры с локальными бизнесами, рекламные кампании, аналитика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ресурсы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485350"/>
            <a:ext cx="76200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Технологические: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готовые ML-модели, облачная инфраструктура (AWS/Google Cloud), API к картам, календарям и LLM-сервисам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 backend-разработчик, ML/Data Science специалист, Android/iOS разработчик, Product Manager, дизайнер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история взаимодействия пользователей, их цели и предпочтения, поведенческие паттерны для обучения моделей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Партнёрские отношения: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база контрактов с локальными бизнесами, интеграции с платформами, рекламные соглашения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924800" cy="95547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0447"/>
            <a:ext cx="7924800" cy="8805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53433"/>
            <a:ext cx="7924800" cy="8805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Потребительские сегменты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17348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 мы сервим: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2480" y="1695450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PRIMARY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92480" y="1896547"/>
            <a:ext cx="75590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18-35 </a:t>
            </a:r>
            <a:r>
              <a:rPr lang="en-US" sz="102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ru-RU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полная свобода и ответственность, которой они возможно не готовы.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92480" y="2803327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SECONDARY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92480" y="3004424"/>
            <a:ext cx="7710221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25-45 лет, занятые профессионалы, хотят оптимизировать время и всю жизнь, ценят AI-инструменты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92480" y="3836312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FUTURE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92480" y="4037409"/>
            <a:ext cx="7710221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Корпорации (HR развитие), коучинг-центры, школы — для коучинга и развития сотрудников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70441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28311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Взаимоотношения с клиентами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17348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удерживаем и мотивируем: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2480" y="1695450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Персонализация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92480" y="1896547"/>
            <a:ext cx="7710221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учится под каждого пользователя, адаптирует рекомендации и совет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92480" y="2753320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Gamification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92480" y="2954417"/>
            <a:ext cx="7710221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Стрики, уровни, достижения, награды за закрытие целей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92480" y="3811191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Community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92480" y="4012288"/>
            <a:ext cx="7710221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Челленджи с друзьями, группы с похожими целями, социальное воспитание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сбыта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0736" y="1683313"/>
            <a:ext cx="8261023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Мобильные приложения: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и Play Store</a:t>
            </a: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основные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точки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распределения</a:t>
            </a:r>
            <a:endParaRPr lang="ru-RU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Веб-версия: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веб-приложение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веб-сайт для доступа с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любого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устройства</a:t>
            </a:r>
            <a:endParaRPr lang="ru-RU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 каналы: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Социальные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сети</a:t>
            </a: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хакатоны, tech-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блоги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3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70443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28313"/>
            <a:ext cx="7924800" cy="9054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издержек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173482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мы тратим деньги (при масштабировании):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2480" y="1695450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</a:t>
            </a:r>
            <a:r>
              <a:rPr lang="en-US" sz="132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</a:t>
            </a: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(~50%)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92480" y="1896549"/>
            <a:ext cx="7710221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серверы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2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базы данных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92480" y="2753320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ML &amp; API (~20%)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92480" y="2954420"/>
            <a:ext cx="7710221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LLM-модели, API-ключи, интеграции, GPU для обучения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92480" y="3811191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</a:t>
            </a:r>
            <a:r>
              <a:rPr lang="en-US" sz="132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(~30%)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92480" y="4012290"/>
            <a:ext cx="7710221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Backend/Frontend разработчики, ML-</a:t>
            </a:r>
            <a:r>
              <a:rPr lang="en-US" sz="102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</a:t>
            </a:r>
            <a:r>
              <a:rPr lang="ru-RU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ы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Product Manager, дизайнер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Потоки поступления доходов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77072" y="1249682"/>
            <a:ext cx="81573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Таргетированная </a:t>
            </a: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реклама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(~75%):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Локальные бизнесы платят за каждого рекомендованного клиента. </a:t>
            </a:r>
            <a:endParaRPr lang="ru-RU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ru-RU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</a:t>
            </a: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партнёрства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(~15%):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Контракты с сетевыми рестораны/спортзалы на использование их товаров в рекомендациях, корпоративные версии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</a:t>
            </a:r>
            <a:endParaRPr lang="ru-RU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</a:t>
            </a: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(~10%):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Платная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неограниченными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кастомным дизайном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ru-RU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дополнительными функциями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722</Words>
  <Application>Microsoft Office PowerPoint</Application>
  <PresentationFormat>Экран (16:9)</PresentationFormat>
  <Paragraphs>87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FNU LNU</cp:lastModifiedBy>
  <cp:revision>4</cp:revision>
  <dcterms:created xsi:type="dcterms:W3CDTF">2025-12-20T19:09:43Z</dcterms:created>
  <dcterms:modified xsi:type="dcterms:W3CDTF">2025-12-20T21:32:48Z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2025-12-20T19:37:03Z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82b70a2d-30f9-4534-8fd6-9bb237da0a46</vt:lpwstr>
  </property>
  <property fmtid="{D5CDD505-2E9C-101B-9397-08002B2CF9AE}" pid="7" name="MSIP_Label_defa4170-0d19-0005-0004-bc88714345d2_ActionId">
    <vt:lpwstr>e5068e4a-3d13-4ba2-ad1e-a8be592eb297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