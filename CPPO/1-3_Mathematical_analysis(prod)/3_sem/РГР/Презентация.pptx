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36"/>
  </p:notesMasterIdLst>
  <p:handoutMasterIdLst>
    <p:handoutMasterId r:id="rId37"/>
  </p:handoutMasterIdLst>
  <p:sldIdLst>
    <p:sldId id="265" r:id="rId2"/>
    <p:sldId id="322" r:id="rId3"/>
    <p:sldId id="325" r:id="rId4"/>
    <p:sldId id="326" r:id="rId5"/>
    <p:sldId id="324" r:id="rId6"/>
    <p:sldId id="327" r:id="rId7"/>
    <p:sldId id="358" r:id="rId8"/>
    <p:sldId id="359" r:id="rId9"/>
    <p:sldId id="360" r:id="rId10"/>
    <p:sldId id="361" r:id="rId11"/>
    <p:sldId id="362" r:id="rId12"/>
    <p:sldId id="351" r:id="rId13"/>
    <p:sldId id="352" r:id="rId14"/>
    <p:sldId id="353" r:id="rId15"/>
    <p:sldId id="355" r:id="rId16"/>
    <p:sldId id="356" r:id="rId17"/>
    <p:sldId id="357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38" r:id="rId26"/>
    <p:sldId id="339" r:id="rId27"/>
    <p:sldId id="349" r:id="rId28"/>
    <p:sldId id="363" r:id="rId29"/>
    <p:sldId id="364" r:id="rId30"/>
    <p:sldId id="365" r:id="rId31"/>
    <p:sldId id="346" r:id="rId32"/>
    <p:sldId id="347" r:id="rId33"/>
    <p:sldId id="348" r:id="rId34"/>
    <p:sldId id="263" r:id="rId3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1F"/>
    <a:srgbClr val="000000"/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31F13F-BEC6-4E02-8384-DF08A0496459}" v="119" dt="2026-01-12T16:04:25.3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3" autoAdjust="0"/>
    <p:restoredTop sz="94672" autoAdjust="0"/>
  </p:normalViewPr>
  <p:slideViewPr>
    <p:cSldViewPr snapToGrid="0" snapToObjects="1" showGuides="1">
      <p:cViewPr>
        <p:scale>
          <a:sx n="100" d="100"/>
          <a:sy n="100" d="100"/>
        </p:scale>
        <p:origin x="1267" y="394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442525"/>
            <a:ext cx="6400800" cy="704850"/>
          </a:xfrm>
        </p:spPr>
        <p:txBody>
          <a:bodyPr>
            <a:no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</a:rPr>
              <a:t>РГР</a:t>
            </a:r>
            <a:br>
              <a:rPr lang="ru-RU" sz="4400" dirty="0">
                <a:solidFill>
                  <a:schemeClr val="bg1"/>
                </a:solidFill>
              </a:rPr>
            </a:br>
            <a:r>
              <a:rPr lang="ru-RU" sz="4400" dirty="0">
                <a:solidFill>
                  <a:schemeClr val="bg1"/>
                </a:solidFill>
              </a:rPr>
              <a:t>Команда 6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59C3AC6-6CD1-C215-A3EB-1B669F1857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latin typeface="Golos Text"/>
              </a:rPr>
              <a:t>Повторные пределы вычисляются путем последовательного перехода к пределу сначала по одной переменной, затем по другой.</a:t>
            </a:r>
            <a:br>
              <a:rPr lang="ru-RU" dirty="0"/>
            </a:br>
            <a:endParaRPr lang="ru-RU" dirty="0"/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A005B5-E37E-D5F7-C74B-2628D4CDB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1.1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683ECEF-C126-4F4F-2B77-7FC63C7D7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51" y="272315"/>
            <a:ext cx="7370292" cy="73200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Golos Text DemiBold"/>
              </a:rPr>
              <a:t>Задание 1 – Вычисление повторных пределов и двойного предела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07358EA-8600-ADBA-52DF-6AC12A92CA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latin typeface="Golos Text"/>
              </a:rPr>
              <a:t>Чтобы двойной предел существовал, функция должна стремиться к одному и тому же значению при любом способе приближения к точке (0,0). Проверим это, выбрав путь в виде прямой y=</a:t>
            </a:r>
            <a:r>
              <a:rPr lang="ru-RU" dirty="0" err="1">
                <a:latin typeface="Golos Text"/>
              </a:rPr>
              <a:t>kx</a:t>
            </a:r>
            <a:br>
              <a:rPr lang="ru-RU" dirty="0"/>
            </a:br>
            <a:r>
              <a:rPr lang="ru-RU" dirty="0">
                <a:latin typeface="Golos Text"/>
              </a:rPr>
              <a:t>В результате получаем, что значение предела зависит от коэффициента k, следовательно двойного предела не существует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6774C3B-FC5A-185E-8092-889B7F24F4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1.2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5" t="-20" r="5502" b="15541"/>
          <a:stretch>
            <a:fillRect/>
          </a:stretch>
        </p:blipFill>
        <p:spPr>
          <a:xfrm>
            <a:off x="458009" y="3689333"/>
            <a:ext cx="3648214" cy="120565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037" y="1284696"/>
            <a:ext cx="3871525" cy="71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5407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534-90B7-5774-2306-1A9DD2D6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Golos Text DemiBold"/>
              </a:rPr>
              <a:t>1.3 - Траектория на графике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Текст 3">
                <a:extLst>
                  <a:ext uri="{FF2B5EF4-FFF2-40B4-BE49-F238E27FC236}">
                    <a16:creationId xmlns:a16="http://schemas.microsoft.com/office/drawing/2014/main" id="{7E95D14C-0749-B366-DF60-831456AD6EE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5447094" y="1393828"/>
                <a:ext cx="3252571" cy="3115626"/>
              </a:xfrm>
            </p:spPr>
            <p:txBody>
              <a:bodyPr/>
              <a:lstStyle/>
              <a:p>
                <a:r>
                  <a:rPr lang="ru-RU" dirty="0"/>
                  <a:t>Поскольку двойного предела не существует, на графике можно выделить траектории, дающие разные результаты.</a:t>
                </a:r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ru-RU" dirty="0"/>
                  <a:t>Траектория 1 (прямая y=x): значения функции стремятся к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ru-RU" dirty="0"/>
                  <a:t>Траектория 2 (прямая y=−x): значения функции стремятся к </a:t>
                </a:r>
                <a:r>
                  <a:rPr lang="ru-RU" strike="sngStrike" dirty="0"/>
                  <a:t>-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dirty="0"/>
                  <a:t>.</a:t>
                </a:r>
                <a:br>
                  <a:rPr lang="ru-RU" dirty="0"/>
                </a:br>
                <a:r>
                  <a:rPr lang="ru-RU" dirty="0"/>
                  <a:t>На картинке видно разрыв в центре (</a:t>
                </a:r>
                <a:r>
                  <a:rPr lang="en-US" dirty="0"/>
                  <a:t>0,0)</a:t>
                </a:r>
                <a:endParaRPr lang="ru-RU" dirty="0"/>
              </a:p>
            </p:txBody>
          </p:sp>
        </mc:Choice>
        <mc:Fallback>
          <p:sp>
            <p:nvSpPr>
              <p:cNvPr id="4" name="Текст 3">
                <a:extLst>
                  <a:ext uri="{FF2B5EF4-FFF2-40B4-BE49-F238E27FC236}">
                    <a16:creationId xmlns:a16="http://schemas.microsoft.com/office/drawing/2014/main" id="{7E95D14C-0749-B366-DF60-831456AD6E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5447094" y="1393828"/>
                <a:ext cx="3252571" cy="3115626"/>
              </a:xfrm>
              <a:blipFill>
                <a:blip r:embed="rId2"/>
                <a:stretch>
                  <a:fillRect l="-750" t="-391" r="-16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6" t="4038" r="11631" b="14787"/>
          <a:stretch>
            <a:fillRect/>
          </a:stretch>
        </p:blipFill>
        <p:spPr>
          <a:xfrm>
            <a:off x="458083" y="1211948"/>
            <a:ext cx="4097670" cy="348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7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B75BB7E-5242-607C-D973-5C88E2FAB3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2.1 – нахождение линий уровня.</a:t>
            </a:r>
            <a:br>
              <a:rPr lang="ru-RU" dirty="0"/>
            </a:br>
            <a:r>
              <a:rPr lang="ru-RU" dirty="0"/>
              <a:t>Линии уровня — это кривые, на которых функция принимает постоянное значение z=C.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922D73-8950-E8DA-530F-B7973DB0EC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Путем сложных вычислений мы выяснили, что семейство эллипсов с началом в центре координат (</a:t>
            </a:r>
            <a:r>
              <a:rPr lang="en-US" dirty="0"/>
              <a:t>0,0)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2F25C4-7663-582D-5776-E7C30E76E2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ru-RU" dirty="0"/>
              <a:t>.2 - рисуночек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D6CCC61-BB2F-AF7A-925F-8FDA44CDA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02" y="494091"/>
            <a:ext cx="6377241" cy="339628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Golos Text DemiBold"/>
              </a:rPr>
              <a:t>Задание 2 - Линии уровня и градиент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2" y="1993788"/>
            <a:ext cx="2324424" cy="80021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141" y="1623421"/>
            <a:ext cx="3346776" cy="230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7169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Ну и, конечно же, мы хотим найти градиент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2.3 – поиск градиента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" b="4348"/>
          <a:stretch>
            <a:fillRect/>
          </a:stretch>
        </p:blipFill>
        <p:spPr>
          <a:xfrm>
            <a:off x="459332" y="1568807"/>
            <a:ext cx="5377194" cy="74997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59" t="18791" r="949" b="5319"/>
          <a:stretch>
            <a:fillRect/>
          </a:stretch>
        </p:blipFill>
        <p:spPr>
          <a:xfrm>
            <a:off x="461465" y="2566077"/>
            <a:ext cx="4047604" cy="152043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9" t="4064" r="4341" b="8545"/>
          <a:stretch>
            <a:fillRect/>
          </a:stretch>
        </p:blipFill>
        <p:spPr>
          <a:xfrm>
            <a:off x="4843498" y="2041598"/>
            <a:ext cx="3567232" cy="256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  <p:transition spd="slow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3B75BB7E-5242-607C-D973-5C88E2FAB34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r>
                  <a:rPr lang="ru-RU" dirty="0"/>
                  <a:t>Для функции двух переменных </a:t>
                </a:r>
                <a:br>
                  <a:rPr lang="ru-RU" dirty="0"/>
                </a:br>
                <a:r>
                  <a:rPr lang="ru-RU" dirty="0"/>
                  <a:t>z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+ 2ax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(a=2)</a:t>
                </a:r>
                <a:r>
                  <a:rPr lang="ru-RU" dirty="0"/>
                  <a:t> </a:t>
                </a:r>
                <a:br>
                  <a:rPr lang="ru-RU" dirty="0"/>
                </a:br>
                <a:r>
                  <a:rPr lang="ru-RU" dirty="0"/>
                  <a:t>единственная стационарная точка – (-2</a:t>
                </a:r>
                <a:r>
                  <a:rPr lang="en-US" dirty="0"/>
                  <a:t>;0)</a:t>
                </a:r>
                <a:br>
                  <a:rPr lang="ru-RU" dirty="0"/>
                </a:br>
                <a:r>
                  <a:rPr lang="ru-RU" dirty="0"/>
                  <a:t>рассмотрев вторые производные (да и матрицу Гессе) приходим к выводу, что наша точка – локальный минимум.</a:t>
                </a:r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3B75BB7E-5242-607C-D973-5C88E2FAB3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2"/>
                <a:stretch>
                  <a:fillRect l="-469" t="-10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E922D73-8950-E8DA-530F-B7973DB0ECBD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/>
              <a:lstStyle/>
              <a:p>
                <a:r>
                  <a:rPr lang="en-US" dirty="0"/>
                  <a:t>3.3 </a:t>
                </a:r>
                <a:r>
                  <a:rPr lang="ru-RU" dirty="0"/>
                  <a:t>поиск максимума и минимума.</a:t>
                </a:r>
                <a:br>
                  <a:rPr lang="ru-RU" dirty="0"/>
                </a:br>
                <a:r>
                  <a:rPr lang="ru-RU" dirty="0"/>
                  <a:t>Область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=1</a:t>
                </a:r>
                <a:r>
                  <a:rPr lang="ru-RU" dirty="0"/>
                  <a:t>- замкнутая и ограниченная, функция непрерывна, значит абсолютные экстремумы существуют и достигаются в найденных условных точках.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E922D73-8950-E8DA-530F-B7973DB0EC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>
                <a:blip r:embed="rId3"/>
                <a:stretch>
                  <a:fillRect l="-469" t="-741" r="-10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Текст 3">
                <a:extLst>
                  <a:ext uri="{FF2B5EF4-FFF2-40B4-BE49-F238E27FC236}">
                    <a16:creationId xmlns:a16="http://schemas.microsoft.com/office/drawing/2014/main" id="{422F25C4-7663-582D-5776-E7C30E76E2A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dirty="0"/>
                  <a:t>3.2 – поиск условного экстремума при условии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=1.</a:t>
                </a:r>
                <a:br>
                  <a:rPr lang="en-US" dirty="0"/>
                </a:br>
                <a:r>
                  <a:rPr lang="ru-RU" dirty="0"/>
                  <a:t>Рассмотрим и решим уравнение </a:t>
                </a:r>
                <a:br>
                  <a:rPr lang="ru-RU" dirty="0"/>
                </a:br>
                <a:br>
                  <a:rPr lang="ru-RU" dirty="0"/>
                </a:br>
                <a:br>
                  <a:rPr lang="ru-RU" dirty="0"/>
                </a:br>
                <a:br>
                  <a:rPr lang="ru-RU" dirty="0"/>
                </a:br>
                <a:br>
                  <a:rPr lang="ru-RU" dirty="0"/>
                </a:br>
                <a:br>
                  <a:rPr lang="ru-RU" dirty="0"/>
                </a:br>
                <a:br>
                  <a:rPr lang="ru-RU" dirty="0"/>
                </a:br>
                <a:br>
                  <a:rPr lang="ru-RU" dirty="0"/>
                </a:br>
                <a:r>
                  <a:rPr lang="ru-RU" dirty="0"/>
                  <a:t>И увидим, что локальные экстремумы существуют в (1</a:t>
                </a:r>
                <a:r>
                  <a:rPr lang="en-US" dirty="0"/>
                  <a:t>;0),(-1;0)</a:t>
                </a:r>
                <a:br>
                  <a:rPr lang="ru-RU" dirty="0"/>
                </a:br>
                <a:endParaRPr lang="ru-RU" dirty="0"/>
              </a:p>
            </p:txBody>
          </p:sp>
        </mc:Choice>
        <mc:Fallback xmlns="">
          <p:sp>
            <p:nvSpPr>
              <p:cNvPr id="4" name="Текст 3">
                <a:extLst>
                  <a:ext uri="{FF2B5EF4-FFF2-40B4-BE49-F238E27FC236}">
                    <a16:creationId xmlns:a16="http://schemas.microsoft.com/office/drawing/2014/main" id="{422F25C4-7663-582D-5776-E7C30E76E2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4"/>
                <a:stretch>
                  <a:fillRect l="-503" t="-4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D6CCC61-BB2F-AF7A-925F-8FDA44CDA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8793"/>
            <a:ext cx="6291943" cy="527284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Golos Text DemiBold"/>
              </a:rPr>
              <a:t>Задание 3 – Условный и локальный экстремум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714" y="1777035"/>
            <a:ext cx="3738369" cy="136667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09" y="4256905"/>
            <a:ext cx="1919784" cy="489266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DC66BED-80DC-B834-8E82-7E491585150A}"/>
              </a:ext>
            </a:extLst>
          </p:cNvPr>
          <p:cNvSpPr/>
          <p:nvPr/>
        </p:nvSpPr>
        <p:spPr>
          <a:xfrm>
            <a:off x="8300085" y="2101215"/>
            <a:ext cx="121830" cy="1104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F59D8D-D691-ED1D-92DF-4158EC90C3BE}"/>
              </a:ext>
            </a:extLst>
          </p:cNvPr>
          <p:cNvSpPr txBox="1"/>
          <p:nvPr/>
        </p:nvSpPr>
        <p:spPr>
          <a:xfrm>
            <a:off x="8315281" y="2025655"/>
            <a:ext cx="457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-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42457153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59C3AC6-6CD1-C215-A3EB-1B669F1857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Вычислить по определению двойной интеграл, рассматривая его как предел интегральной суммы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A005B5-E37E-D5F7-C74B-2628D4CDB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683ECEF-C126-4F4F-2B77-7FC63C7D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Golos Text DemiBold"/>
              </a:rPr>
              <a:t>Задание 4 - Интегралы</a:t>
            </a:r>
            <a:endParaRPr lang="ru-RU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663" y="2189333"/>
            <a:ext cx="1019473" cy="1359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" r="139" b="-2740"/>
          <a:stretch>
            <a:fillRect/>
          </a:stretch>
        </p:blipFill>
        <p:spPr>
          <a:xfrm>
            <a:off x="4984892" y="2354311"/>
            <a:ext cx="3669075" cy="129294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" t="7117" r="23" b="6050"/>
          <a:stretch>
            <a:fillRect/>
          </a:stretch>
        </p:blipFill>
        <p:spPr>
          <a:xfrm>
            <a:off x="4983544" y="3764759"/>
            <a:ext cx="3671127" cy="86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719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Задание 4 – аналитическое вычисление как повторного интеграла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sz="1600" dirty="0">
                    <a:latin typeface="Golos Text" panose="020B0503020202020204"/>
                  </a:rPr>
                  <a:t>Слава Богу, функция непрерывна на </a:t>
                </a:r>
                <a:r>
                  <a:rPr lang="en-US" sz="1600" dirty="0">
                    <a:latin typeface="Golos Text" panose="020B0503020202020204"/>
                  </a:rPr>
                  <a:t>D</a:t>
                </a:r>
                <a:r>
                  <a:rPr lang="ru-RU" sz="1600" dirty="0">
                    <a:latin typeface="Golos Text" panose="020B0503020202020204"/>
                  </a:rPr>
                  <a:t>, следовательно, интеграл может быть вычислен как повторный</a:t>
                </a:r>
                <a:br>
                  <a:rPr lang="ru-RU" sz="1600" dirty="0">
                    <a:latin typeface="Golos Text" panose="020B0503020202020204"/>
                  </a:rPr>
                </a:br>
                <a:r>
                  <a:rPr lang="ru-RU" sz="1600" dirty="0">
                    <a:latin typeface="Golos Text" panose="020B0503020202020204"/>
                  </a:rPr>
                  <a:t>Путем несложных преобразований</a:t>
                </a:r>
              </a:p>
              <a:p>
                <a:br>
                  <a:rPr lang="ru-RU" sz="1600" dirty="0">
                    <a:latin typeface="Golos Text" panose="020B0503020202020204"/>
                  </a:rPr>
                </a:br>
                <a:r>
                  <a:rPr lang="ru-RU" sz="1600" dirty="0">
                    <a:latin typeface="Golos Text" panose="020B0503020202020204"/>
                  </a:rPr>
                  <a:t>превращается в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ru-RU" sz="1600" dirty="0">
                  <a:latin typeface="Golos Text" panose="020B0503020202020204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408" t="-7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031" y="1498265"/>
            <a:ext cx="2733776" cy="78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1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4.3 </a:t>
            </a:r>
            <a:r>
              <a:rPr lang="ru-RU" sz="2400" dirty="0"/>
              <a:t>Определение двойного интеграла и интегральные суммы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 счете интеграла по определению настолько хорошо, что все понятно, но это такая глинистая глина, что становится жаль всех участников процесса...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dirty="0"/>
              <a:t>Пропустим ряд очевидных преобразований и перейдем к финальному результату</a:t>
            </a:r>
            <a:br>
              <a:rPr lang="ru-RU" dirty="0"/>
            </a:br>
            <a:endParaRPr lang="ru-RU" sz="1600" dirty="0">
              <a:latin typeface="Golos Text" panose="020B0503020202020204"/>
            </a:endParaRPr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67796" y="3959353"/>
            <a:ext cx="2753449" cy="172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1708535"/>
            <a:ext cx="5574051" cy="164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16750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4.3 </a:t>
            </a:r>
            <a:r>
              <a:rPr lang="ru-RU" sz="2400" dirty="0"/>
              <a:t>Определение двойного интеграла и интегральные суммы ( продолжение)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Интегральная сумма имеет вид :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dirty="0" err="1"/>
              <a:t>Ураааааааа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sz="1600" dirty="0">
              <a:latin typeface="Golos Text" panose="020B0503020202020204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1432962"/>
            <a:ext cx="6104686" cy="96180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28" y="2394768"/>
            <a:ext cx="5999380" cy="98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179027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6629B-EDF3-694D-72B7-A1E25B2E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7C383-5B0E-8384-4168-9AD98F6E2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4.3 </a:t>
            </a:r>
            <a:r>
              <a:rPr lang="ru-RU" sz="2400" dirty="0"/>
              <a:t>Посчитали на питоне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FB5E03-B1D9-623D-4E6D-33DA4F76F2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sz="1600" dirty="0">
              <a:latin typeface="Golos Text" panose="020B0503020202020204"/>
            </a:endParaRPr>
          </a:p>
        </p:txBody>
      </p:sp>
      <p:pic>
        <p:nvPicPr>
          <p:cNvPr id="7" name="Рисунок 6" descr="Изображение выглядит как текст, снимок экрана, Шриф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7F4A99D-2E93-ADCA-9091-59318E2FC9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203"/>
          <a:stretch>
            <a:fillRect/>
          </a:stretch>
        </p:blipFill>
        <p:spPr>
          <a:xfrm>
            <a:off x="457200" y="1211943"/>
            <a:ext cx="5462337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37769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9EEE8-0486-FCC2-F115-408E67A1B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E26481-CEDF-38FA-C8CE-D9D9B5D24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Задание 5 – махинации с векторным полем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6E9A9FFC-D5DB-7287-DD81-F77F726467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0486" y="1605419"/>
            <a:ext cx="7467600" cy="232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566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9E47D-11F6-4B92-8D14-1EFAE75B8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4CFC86-5A0F-4D8B-89EF-B7AE440E3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5.1 – убедиться что поле потенциально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F0C0D16-5847-ABE7-9D8F-81BC0309E6B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sz="1600" dirty="0">
                    <a:latin typeface="Golos Text" panose="020B0503020202020204"/>
                  </a:rPr>
                  <a:t>Если поле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GB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ru-RU" sz="1600" b="0" i="1" dirty="0" smtClean="0">
                        <a:latin typeface="Cambria Math" panose="02040503050406030204" pitchFamily="18" charset="0"/>
                      </a:rPr>
                      <m:t> потенциально</m:t>
                    </m:r>
                  </m:oMath>
                </a14:m>
                <a:r>
                  <a:rPr lang="ru-RU" sz="1600" dirty="0">
                    <a:latin typeface="Golos Text" panose="020B0503020202020204"/>
                  </a:rPr>
                  <a:t> и функции </a:t>
                </a:r>
                <a:r>
                  <a:rPr lang="en-GB" sz="1600" dirty="0">
                    <a:latin typeface="Golos Text" panose="020B0503020202020204"/>
                  </a:rPr>
                  <a:t>P, Q </a:t>
                </a:r>
                <a:r>
                  <a:rPr lang="ru-RU" sz="1600" dirty="0">
                    <a:latin typeface="Golos Text" panose="020B0503020202020204"/>
                  </a:rPr>
                  <a:t>и </a:t>
                </a:r>
                <a:r>
                  <a:rPr lang="en-GB" sz="1600" dirty="0">
                    <a:latin typeface="Golos Text" panose="020B0503020202020204"/>
                  </a:rPr>
                  <a:t>R </a:t>
                </a:r>
                <a:r>
                  <a:rPr lang="ru-RU" sz="1600" dirty="0">
                    <a:latin typeface="Golos Text" panose="020B0503020202020204"/>
                  </a:rPr>
                  <a:t>непрерывно дифференцируемы, это равносильно тому, что его ротор равен нулю</a:t>
                </a:r>
                <a:r>
                  <a:rPr lang="en-GB" sz="1600" dirty="0">
                    <a:latin typeface="Golos Text" panose="020B0503020202020204"/>
                  </a:rPr>
                  <a:t>, </a:t>
                </a:r>
                <a:r>
                  <a:rPr lang="ru-RU" sz="1600" dirty="0">
                    <a:latin typeface="Golos Text" panose="020B0503020202020204"/>
                  </a:rPr>
                  <a:t>а в двумерном случае это сводится к равенству частных производных</a:t>
                </a:r>
                <a:r>
                  <a:rPr lang="en-GB" sz="1600" dirty="0">
                    <a:latin typeface="Golos Text" panose="020B0503020202020204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GB" sz="1600" b="0" i="1" dirty="0">
                  <a:latin typeface="Cambria Math" panose="02040503050406030204" pitchFamily="18" charset="0"/>
                </a:endParaRPr>
              </a:p>
              <a:p>
                <a:endParaRPr lang="en-GB" sz="1600" i="1" dirty="0">
                  <a:latin typeface="Cambria Math" panose="02040503050406030204" pitchFamily="18" charset="0"/>
                </a:endParaRPr>
              </a:p>
              <a:p>
                <a:r>
                  <a:rPr lang="ru-RU" sz="1600" dirty="0"/>
                  <a:t>Для того чтобы доказать, что поле потенциально, воспользуемся этим свойством и докажем равенство частных производных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1600" dirty="0">
                  <a:latin typeface="Golos Text" panose="020B0503020202020204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F0C0D16-5847-ABE7-9D8F-81BC0309E6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CE12AE-AC70-C899-B8D5-21184DEA8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258053"/>
            <a:ext cx="6494417" cy="42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462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E2E80-4B16-1D82-3A42-6544FC12D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B76A00-1D22-324A-9FA8-3682889C9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5.2 – найти уравнение векторных линий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FA9252E-CE14-9CBA-9E71-55A3379883F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sz="1600" dirty="0">
                    <a:latin typeface="Golos Text" panose="020B0503020202020204"/>
                  </a:rPr>
                  <a:t>Векторные линии — это такие линии, касательная к которым в каждой точке совпадает с вектором поля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ru-RU" sz="16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ru-RU" sz="16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sz="16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16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ru-RU" sz="1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i="1" dirty="0">
                  <a:latin typeface="Cambria Math" panose="02040503050406030204" pitchFamily="18" charset="0"/>
                </a:endParaRPr>
              </a:p>
              <a:p>
                <a:r>
                  <a:rPr lang="ru-RU" sz="1600" dirty="0"/>
                  <a:t>Нам нужно чтобы касательная совпала с вектором.</a:t>
                </a:r>
                <a:r>
                  <a:rPr lang="en-GB" sz="1600" dirty="0"/>
                  <a:t> </a:t>
                </a:r>
                <a:r>
                  <a:rPr lang="ru-RU" sz="1600" dirty="0"/>
                  <a:t>Это условие можно записать через тангенс угла относительно оси X:</a:t>
                </a:r>
                <a:endParaRPr lang="ru-RU" sz="1600" dirty="0">
                  <a:latin typeface="Golos Text" panose="020B0503020202020204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FA9252E-CE14-9CBA-9E71-55A3379883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408" t="-5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614F52E-BF7A-BBDE-4B15-35832E8F3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86" y="2333871"/>
            <a:ext cx="4617720" cy="236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283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23CC0-5327-14D8-D783-C2A51CBB7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6F6FB1-6113-E440-93FB-FB12A3438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5.</a:t>
            </a:r>
            <a:r>
              <a:rPr lang="en-GB" sz="2400" dirty="0"/>
              <a:t>3</a:t>
            </a:r>
            <a:r>
              <a:rPr lang="ru-RU" sz="2400" dirty="0"/>
              <a:t> – найти потенциал поле при помощи криволинейного интеграла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75F6CC3-3469-CE9C-074B-810F36E484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44303" y="1170442"/>
            <a:ext cx="6889976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25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BC835-4203-46A5-CC3B-5FC2C4BB8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1A5748-F1C1-E4EB-CE55-6F14447D0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5.4 - Иллюстрации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44A0CE-8BCE-E583-7254-34B98CBA3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72" y="1950891"/>
            <a:ext cx="2470049" cy="23251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F6E4C8-F1CA-E25A-021F-2F7BA26D21F3}"/>
              </a:ext>
            </a:extLst>
          </p:cNvPr>
          <p:cNvSpPr txBox="1"/>
          <p:nvPr/>
        </p:nvSpPr>
        <p:spPr>
          <a:xfrm>
            <a:off x="563572" y="1440877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векторные линии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F072B21-1819-2BB3-974C-2179353B6B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677" b="28228"/>
          <a:stretch>
            <a:fillRect/>
          </a:stretch>
        </p:blipFill>
        <p:spPr>
          <a:xfrm>
            <a:off x="3356791" y="1950891"/>
            <a:ext cx="2369395" cy="23251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096D08-8DEE-DDA3-D6EA-C208C8CCCB0C}"/>
              </a:ext>
            </a:extLst>
          </p:cNvPr>
          <p:cNvSpPr txBox="1"/>
          <p:nvPr/>
        </p:nvSpPr>
        <p:spPr>
          <a:xfrm>
            <a:off x="3094642" y="1400685"/>
            <a:ext cx="2954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Линии уровня потенциала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E65F1A2-A82F-754F-7BA4-978FA45695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736"/>
          <a:stretch>
            <a:fillRect/>
          </a:stretch>
        </p:blipFill>
        <p:spPr>
          <a:xfrm>
            <a:off x="6049357" y="1950890"/>
            <a:ext cx="2369395" cy="23251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D6C4904-B3FB-DBF2-BE64-68783A2C52D8}"/>
              </a:ext>
            </a:extLst>
          </p:cNvPr>
          <p:cNvSpPr txBox="1"/>
          <p:nvPr/>
        </p:nvSpPr>
        <p:spPr>
          <a:xfrm>
            <a:off x="6273934" y="1396893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Ортогональность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CBC3999-D657-1D5E-B4D0-8A86E7908DD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8916" t="232" b="33229"/>
          <a:stretch>
            <a:fillRect/>
          </a:stretch>
        </p:blipFill>
        <p:spPr>
          <a:xfrm>
            <a:off x="8601884" y="466044"/>
            <a:ext cx="173564" cy="189065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3C0BB96F-5CC7-F57B-1298-D93C593F65C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5198" b="8709"/>
          <a:stretch>
            <a:fillRect/>
          </a:stretch>
        </p:blipFill>
        <p:spPr>
          <a:xfrm>
            <a:off x="8508400" y="397677"/>
            <a:ext cx="356799" cy="32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471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602EC-E6AB-73B6-E7FF-1EDEDEB40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616451-74F1-AEC5-AD60-2F9B870E1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5.5 – найти работу поля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>
                <a:extLst>
                  <a:ext uri="{FF2B5EF4-FFF2-40B4-BE49-F238E27FC236}">
                    <a16:creationId xmlns:a16="http://schemas.microsoft.com/office/drawing/2014/main" id="{7FB21AE8-D447-F6F7-0B98-1088536E6AA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ru-RU" dirty="0"/>
                  <a:t>Возьмём линию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i="1" dirty="0">
                        <a:latin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GB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</a:t>
                </a:r>
                <a:r>
                  <a:rPr lang="ru-RU" dirty="0"/>
                  <a:t>и точки </a:t>
                </a:r>
                <a:r>
                  <a:rPr lang="en-US" dirty="0"/>
                  <a:t>A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(−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и </a:t>
                </a:r>
                <a:r>
                  <a:rPr lang="en-GB" dirty="0"/>
                  <a:t>B</a:t>
                </a:r>
                <a:r>
                  <a:rPr lang="ru-RU" dirty="0"/>
                  <a:t> =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,−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4" name="Объект 3">
                <a:extLst>
                  <a:ext uri="{FF2B5EF4-FFF2-40B4-BE49-F238E27FC236}">
                    <a16:creationId xmlns:a16="http://schemas.microsoft.com/office/drawing/2014/main" id="{7FB21AE8-D447-F6F7-0B98-1088536E6A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5" t="-1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0FB3FA3-9E2A-4C9B-ABFC-6CE58F509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433" y="1782565"/>
            <a:ext cx="2444807" cy="2305897"/>
          </a:xfrm>
          <a:prstGeom prst="rect">
            <a:avLst/>
          </a:prstGeom>
          <a:ln>
            <a:noFill/>
          </a:ln>
          <a:effectLst>
            <a:outerShdw blurRad="292100" dist="139700" sx="95000" sy="95000" algn="tl" rotWithShape="0">
              <a:srgbClr val="333333">
                <a:alpha val="34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12B2505-90B4-F856-919E-9B60053B6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54" y="1641024"/>
            <a:ext cx="4539886" cy="42901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236FE42-AF08-6539-CF49-F5AD1F3476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073850"/>
            <a:ext cx="2656075" cy="46318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F7081C0-3914-72BE-0923-A6B6D2AA46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71" y="2742549"/>
            <a:ext cx="1953753" cy="46800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C9E5D50-7AC3-23EB-6ADE-931B1D96FA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654" y="3419857"/>
            <a:ext cx="4677046" cy="46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06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534-90B7-5774-2306-1A9DD2D6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Задание 6 – мучить тело, ограниченное функциями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95D14C-0749-B366-DF60-831456AD6E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А также нужно вычислить поток поля через тело и изобразить </a:t>
            </a:r>
            <a:r>
              <a:rPr lang="en-US" dirty="0"/>
              <a:t>[</a:t>
            </a:r>
            <a:r>
              <a:rPr lang="ru-RU" dirty="0"/>
              <a:t>тело</a:t>
            </a:r>
            <a:r>
              <a:rPr lang="en-US" dirty="0"/>
              <a:t>]</a:t>
            </a:r>
            <a:r>
              <a:rPr lang="ru-RU" dirty="0"/>
              <a:t> на графике!!!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47060"/>
            <a:ext cx="2575930" cy="236891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931" y="1047060"/>
            <a:ext cx="2763439" cy="236891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370" y="2193838"/>
            <a:ext cx="3492461" cy="252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03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534-90B7-5774-2306-1A9DD2D6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Задание 6 – еще графики.</a:t>
            </a:r>
            <a:br>
              <a:rPr lang="ru-RU" dirty="0"/>
            </a:br>
            <a:r>
              <a:rPr lang="ru-RU" dirty="0"/>
              <a:t>Если вам интересны ограничения…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95D14C-0749-B366-DF60-831456AD6E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Если мы хотим посмотреть, как наше тело </a:t>
            </a:r>
            <a:r>
              <a:rPr lang="en-US" dirty="0"/>
              <a:t>T</a:t>
            </a:r>
            <a:r>
              <a:rPr lang="ru-RU" dirty="0"/>
              <a:t> вообще появилось…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0341"/>
            <a:ext cx="4751966" cy="240038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272" y="1935551"/>
            <a:ext cx="2731439" cy="264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20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534-90B7-5774-2306-1A9DD2D6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Задание 6 –  потоки…поля…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95D14C-0749-B366-DF60-831456AD6E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br>
              <a:rPr lang="ru-RU" dirty="0"/>
            </a:br>
            <a:br>
              <a:rPr lang="ru-RU" dirty="0"/>
            </a:br>
            <a:r>
              <a:rPr lang="ru-RU" dirty="0"/>
              <a:t>Для решения задачи мы воспользуемся теоремой Гаусса-Остроградского (теорема о дивергенции). Она позволяет заменить сложный поверхностный интеграл (поток через поверхность) на тройной интеграл по объему тела.</a:t>
            </a:r>
            <a:br>
              <a:rPr lang="ru-RU" dirty="0"/>
            </a:br>
            <a:r>
              <a:rPr lang="ru-RU" dirty="0"/>
              <a:t>Удобно? Вот и я так считаю.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8184"/>
            <a:ext cx="9144000" cy="90867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31" y="2914443"/>
            <a:ext cx="4791744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39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534-90B7-5774-2306-1A9DD2D6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Задание 6 – скучное выполнение 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95D14C-0749-B366-DF60-831456AD6E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br>
              <a:rPr lang="ru-RU" dirty="0"/>
            </a:br>
            <a:br>
              <a:rPr lang="ru-RU" dirty="0"/>
            </a:br>
            <a:r>
              <a:rPr lang="ru-RU" dirty="0"/>
              <a:t>Дивергенция — это скалярная функция, которая измеряет «источники» и «стоки» поля в точке. ( если интуитивно)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спустя 4 скриншота работы с дивергенцией выясняем, что она постоянна и равна</a:t>
            </a:r>
            <a:br>
              <a:rPr lang="ru-RU" dirty="0"/>
            </a:br>
            <a:r>
              <a:rPr lang="ru-RU" dirty="0"/>
              <a:t>-3. Будет легче считать интеграл!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4" y="1825401"/>
            <a:ext cx="2833956" cy="77353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4" y="1056806"/>
            <a:ext cx="5025485" cy="35896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4" y="1415769"/>
            <a:ext cx="2505425" cy="40963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4" y="2598938"/>
            <a:ext cx="5025485" cy="63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0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534-90B7-5774-2306-1A9DD2D6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Задание 6 – интеграл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Текст 3">
                <a:extLst>
                  <a:ext uri="{FF2B5EF4-FFF2-40B4-BE49-F238E27FC236}">
                    <a16:creationId xmlns:a16="http://schemas.microsoft.com/office/drawing/2014/main" id="{7E95D14C-0749-B366-DF60-831456AD6EE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5508171" y="876497"/>
                <a:ext cx="2532743" cy="3913443"/>
              </a:xfrm>
            </p:spPr>
            <p:txBody>
              <a:bodyPr/>
              <a:lstStyle/>
              <a:p>
                <a:pPr/>
                <a:r>
                  <a:rPr lang="ru-RU" dirty="0"/>
                  <a:t>Теперь нам нужно посчитать </a:t>
                </a:r>
                <a:r>
                  <a:rPr lang="ru-RU" dirty="0" err="1"/>
                  <a:t>интеграл.Командой</a:t>
                </a:r>
                <a:r>
                  <a:rPr lang="ru-RU" dirty="0"/>
                  <a:t> было принято непростое решение –перейти в цилиндрические координаты</a:t>
                </a:r>
                <a:br>
                  <a:rPr lang="ru-RU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𝑟𝑐𝑜𝑠</m:t>
                      </m:r>
                      <m:r>
                        <m:rPr>
                          <m:nor/>
                        </m:rPr>
                        <a:rPr lang="el-GR"/>
                        <m:t>φ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𝑟𝑠𝑖𝑛</m:t>
                      </m:r>
                      <m:r>
                        <m:rPr>
                          <m:nor/>
                        </m:rPr>
                        <a:rPr lang="el-GR"/>
                        <m:t>φ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br>
                  <a:rPr lang="ru-RU" dirty="0"/>
                </a:br>
                <a:r>
                  <a:rPr lang="ru-RU" dirty="0"/>
                  <a:t>тогда</a:t>
                </a:r>
                <a:br>
                  <a:rPr lang="ru-RU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br>
                  <a:rPr lang="ru-RU" dirty="0"/>
                </a:br>
                <a:br>
                  <a:rPr lang="en-US" dirty="0"/>
                </a:br>
                <a:r>
                  <a:rPr lang="ru-RU" dirty="0"/>
                  <a:t>А сделано это было для того, чтобы легче было считать интеграл, обратите внимание, какими функциями он ограничен ( слева)</a:t>
                </a:r>
              </a:p>
            </p:txBody>
          </p:sp>
        </mc:Choice>
        <mc:Fallback xmlns="">
          <p:sp>
            <p:nvSpPr>
              <p:cNvPr id="4" name="Текст 3">
                <a:extLst>
                  <a:ext uri="{FF2B5EF4-FFF2-40B4-BE49-F238E27FC236}">
                    <a16:creationId xmlns:a16="http://schemas.microsoft.com/office/drawing/2014/main" id="{7E95D14C-0749-B366-DF60-831456AD6E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5508171" y="876497"/>
                <a:ext cx="2532743" cy="3913443"/>
              </a:xfrm>
              <a:blipFill>
                <a:blip r:embed="rId2"/>
                <a:stretch>
                  <a:fillRect l="-723" t="-467" r="-28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78" y="833719"/>
            <a:ext cx="2878040" cy="75079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39" y="2927975"/>
            <a:ext cx="4196002" cy="106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3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534-90B7-5774-2306-1A9DD2D6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Задание 6 – интеграл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Текст 3">
                <a:extLst>
                  <a:ext uri="{FF2B5EF4-FFF2-40B4-BE49-F238E27FC236}">
                    <a16:creationId xmlns:a16="http://schemas.microsoft.com/office/drawing/2014/main" id="{7E95D14C-0749-B366-DF60-831456AD6EE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5508171" y="876497"/>
                <a:ext cx="2532743" cy="3913443"/>
              </a:xfrm>
            </p:spPr>
            <p:txBody>
              <a:bodyPr/>
              <a:lstStyle/>
              <a:p>
                <a:r>
                  <a:rPr lang="ru-RU" dirty="0"/>
                  <a:t>Якобиан перехода = </a:t>
                </a:r>
                <a:r>
                  <a:rPr lang="en-US" dirty="0"/>
                  <a:t>r</a:t>
                </a:r>
              </a:p>
              <a:p>
                <a:r>
                  <a:rPr lang="ru-RU" dirty="0"/>
                  <a:t>Определим пределы интегрирования 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m:rPr>
                          <m:nor/>
                        </m:rPr>
                        <a:rPr lang="el-GR"/>
                        <m:t>φ</m:t>
                      </m:r>
                      <m: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m:rPr>
                          <m:nor/>
                        </m:rPr>
                        <a:rPr lang="en-US" b="0" i="0" smtClean="0"/>
                        <m:t>r</m:t>
                      </m:r>
                      <m: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Верхняя и нижняя граница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r>
                  <a:rPr lang="ru-RU" dirty="0"/>
                  <a:t>Получаем тройной интеграл</a:t>
                </a:r>
                <a:br>
                  <a:rPr lang="ru-RU" dirty="0"/>
                </a:br>
                <a:r>
                  <a:rPr lang="ru-RU" dirty="0"/>
                  <a:t>…</a:t>
                </a:r>
                <a:br>
                  <a:rPr lang="ru-RU" dirty="0"/>
                </a:br>
                <a:r>
                  <a:rPr lang="ru-RU" dirty="0"/>
                  <a:t>считаем</a:t>
                </a:r>
                <a:br>
                  <a:rPr lang="ru-RU" dirty="0"/>
                </a:br>
                <a:r>
                  <a:rPr lang="ru-RU" dirty="0"/>
                  <a:t>(помним о -3, которую вынесли</a:t>
                </a:r>
                <a:br>
                  <a:rPr lang="ru-RU" dirty="0"/>
                </a:br>
                <a:r>
                  <a:rPr lang="ru-RU" dirty="0"/>
                  <a:t>…</a:t>
                </a:r>
                <a:br>
                  <a:rPr lang="ru-RU" dirty="0"/>
                </a:br>
                <a:r>
                  <a:rPr lang="ru-RU" dirty="0"/>
                  <a:t>ответ</a:t>
                </a:r>
              </a:p>
            </p:txBody>
          </p:sp>
        </mc:Choice>
        <mc:Fallback xmlns="">
          <p:sp>
            <p:nvSpPr>
              <p:cNvPr id="4" name="Текст 3">
                <a:extLst>
                  <a:ext uri="{FF2B5EF4-FFF2-40B4-BE49-F238E27FC236}">
                    <a16:creationId xmlns:a16="http://schemas.microsoft.com/office/drawing/2014/main" id="{7E95D14C-0749-B366-DF60-831456AD6E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5508171" y="876497"/>
                <a:ext cx="2532743" cy="3913443"/>
              </a:xfrm>
              <a:blipFill>
                <a:blip r:embed="rId2"/>
                <a:stretch>
                  <a:fillRect l="-723" t="-4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7" y="833719"/>
            <a:ext cx="5048955" cy="110505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7" y="2113903"/>
            <a:ext cx="3915321" cy="113363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6" y="3374696"/>
            <a:ext cx="3907502" cy="7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43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Задание 7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68600"/>
            <a:ext cx="8243147" cy="1172390"/>
          </a:xfr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47" y="2240990"/>
            <a:ext cx="6950388" cy="216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637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297"/>
            <a:ext cx="6824382" cy="527284"/>
          </a:xfrm>
        </p:spPr>
        <p:txBody>
          <a:bodyPr>
            <a:noAutofit/>
          </a:bodyPr>
          <a:lstStyle/>
          <a:p>
            <a:r>
              <a:rPr lang="ru-RU" sz="2400" dirty="0"/>
              <a:t>Задание 7 - решение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dirty="0"/>
              <a:t>Путем несложных преобразований…</a:t>
            </a:r>
          </a:p>
        </p:txBody>
      </p:sp>
      <p:pic>
        <p:nvPicPr>
          <p:cNvPr id="9" name="Объект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88080"/>
            <a:ext cx="4252791" cy="286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843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297"/>
            <a:ext cx="6824382" cy="527284"/>
          </a:xfrm>
        </p:spPr>
        <p:txBody>
          <a:bodyPr>
            <a:noAutofit/>
          </a:bodyPr>
          <a:lstStyle/>
          <a:p>
            <a:r>
              <a:rPr lang="ru-RU" sz="2400" dirty="0"/>
              <a:t>Задание 7 - решение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  <a:p>
            <a:r>
              <a:rPr lang="ru-RU" dirty="0"/>
              <a:t>Сила пропорциональна плотности и гравитационной постоянной, зависит только </a:t>
            </a:r>
            <a:r>
              <a:rPr lang="ru-RU" dirty="0" err="1"/>
              <a:t>отгеометрии</a:t>
            </a:r>
            <a:r>
              <a:rPr lang="ru-RU" dirty="0"/>
              <a:t> цилиндра и положения точки, а ее горизонтальные компоненты </a:t>
            </a:r>
            <a:r>
              <a:rPr lang="ru-RU" dirty="0" err="1"/>
              <a:t>отсутствуютиз</a:t>
            </a:r>
            <a:r>
              <a:rPr lang="ru-RU" dirty="0"/>
              <a:t>-за симметрии.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" b="32365"/>
          <a:stretch>
            <a:fillRect/>
          </a:stretch>
        </p:blipFill>
        <p:spPr>
          <a:xfrm>
            <a:off x="609205" y="1112449"/>
            <a:ext cx="7256058" cy="69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36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297"/>
            <a:ext cx="6824382" cy="527284"/>
          </a:xfrm>
        </p:spPr>
        <p:txBody>
          <a:bodyPr>
            <a:noAutofit/>
          </a:bodyPr>
          <a:lstStyle/>
          <a:p>
            <a:r>
              <a:rPr lang="ru-RU" sz="2400" dirty="0"/>
              <a:t>Задание 7 - рисуночек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02" y="1095868"/>
            <a:ext cx="4350177" cy="369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149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Задание 8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Цель - доказать, что объединение двух пересекающихся прямых на плоскости не является одномерным топологическим многообразием. Для этого сначала напомним определения и общий признак одномерного многообразия, а затем применим их к конкретному множеству.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dirty="0"/>
              <a:t>Не то чтобы тут есть какие-то расчеты и выводы- огромное доказательство, которое я с удовольствием вставлю в презентацию</a:t>
            </a:r>
          </a:p>
        </p:txBody>
      </p:sp>
      <p:pic>
        <p:nvPicPr>
          <p:cNvPr id="5122" name="Picture 2" descr="Picture background"/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1" b="1282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icture background"/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6" r="531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7714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Задание 8 (доказательство)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Текст 5">
                <a:extLst>
                  <a:ext uri="{FF2B5EF4-FFF2-40B4-BE49-F238E27FC236}">
                    <a16:creationId xmlns:a16="http://schemas.microsoft.com/office/drawing/2014/main" id="{C9A927D3-D22C-72D3-9160-2A7238153B0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45862" y="943208"/>
                <a:ext cx="8282882" cy="3875536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1</a:t>
                </a:r>
                <a:r>
                  <a:rPr lang="ru-RU" b="1" dirty="0"/>
                  <a:t>-мерный</a:t>
                </a:r>
                <a:r>
                  <a:rPr lang="en-US" b="1" dirty="0"/>
                  <a:t> </a:t>
                </a:r>
                <a:r>
                  <a:rPr lang="ru-RU" b="1" dirty="0"/>
                  <a:t>случай (две прямые на плоскости)</a:t>
                </a:r>
              </a:p>
              <a:p>
                <a:r>
                  <a:rPr lang="ru-RU" dirty="0"/>
                  <a:t>1. Определение 1-многообразия</a:t>
                </a:r>
                <a:br>
                  <a:rPr lang="ru-RU" dirty="0"/>
                </a:br>
                <a:r>
                  <a:rPr lang="ru-RU" dirty="0"/>
                  <a:t>Каждая точка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 имеет окрестность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⊂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, гомеоморфную 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⊂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ar-AE" dirty="0"/>
                  <a:t>.</a:t>
                </a:r>
              </a:p>
              <a:p>
                <a:r>
                  <a:rPr lang="ru-RU" dirty="0"/>
                  <a:t>2.</a:t>
                </a:r>
                <a:r>
                  <a:rPr lang="ar-AE" dirty="0"/>
                  <a:t> </a:t>
                </a:r>
                <a:r>
                  <a:rPr lang="ru-RU" dirty="0"/>
                  <a:t>Инвариант интервала</a:t>
                </a:r>
                <a:br>
                  <a:rPr lang="ru-RU" dirty="0"/>
                </a:b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ar-AE" dirty="0"/>
                  <a:t> </a:t>
                </a:r>
                <a:r>
                  <a:rPr lang="ru-RU" dirty="0"/>
                  <a:t>имеет 2 связные компоненты. Инвариант гомеоморфизма.</a:t>
                </a:r>
              </a:p>
              <a:p>
                <a:r>
                  <a:rPr lang="ru-RU" dirty="0"/>
                  <a:t>3. Окрестность пересечения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∣∥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∥&lt;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ar-AE" dirty="0"/>
                  <a:t> — </a:t>
                </a:r>
                <a:r>
                  <a:rPr lang="ru-RU" dirty="0"/>
                  <a:t>открытый диск.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  <a:br>
                  <a:rPr lang="ar-AE" dirty="0"/>
                </a:b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ar-AE" dirty="0"/>
                  <a:t> </a:t>
                </a:r>
                <a:r>
                  <a:rPr lang="ru-RU" dirty="0"/>
                  <a:t>луча → 4 связные компоненты.</a:t>
                </a:r>
              </a:p>
              <a:p>
                <a:r>
                  <a:rPr lang="ru-RU" dirty="0"/>
                  <a:t>4. Противоречие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/>
                      <m:t>U</m:t>
                    </m:r>
                    <m:r>
                      <m:rPr>
                        <m:nor/>
                      </m:rPr>
                      <a:rPr lang="ru-RU" b="0" i="0" smtClean="0"/>
                      <m:t> </m:t>
                    </m:r>
                    <m:r>
                      <m:rPr>
                        <m:nor/>
                      </m:rPr>
                      <a:rPr lang="ru-RU" b="0" i="0" smtClean="0"/>
                      <m:t>не</m:t>
                    </m:r>
                    <m:r>
                      <m:rPr>
                        <m:nor/>
                      </m:rPr>
                      <a:rPr lang="en-US"/>
                      <m:t>≅</m:t>
                    </m:r>
                    <m:r>
                      <m:rPr>
                        <m:nor/>
                      </m:rPr>
                      <a:rPr lang="ru-RU" b="0" i="0" smtClean="0"/>
                      <m:t> </m:t>
                    </m:r>
                    <m:r>
                      <m:rPr>
                        <m:nor/>
                      </m:rPr>
                      <a:rPr lang="en-US"/>
                      <m:t>(</m:t>
                    </m:r>
                    <m:r>
                      <m:rPr>
                        <m:nor/>
                      </m:rPr>
                      <a:rPr lang="en-US" i="1"/>
                      <m:t>a</m:t>
                    </m:r>
                    <m:r>
                      <m:rPr>
                        <m:nor/>
                      </m:rPr>
                      <a:rPr lang="en-US"/>
                      <m:t>,</m:t>
                    </m:r>
                    <m:r>
                      <m:rPr>
                        <m:nor/>
                      </m:rPr>
                      <a:rPr lang="en-US" i="1"/>
                      <m:t>b</m:t>
                    </m:r>
                    <m:r>
                      <m:rPr>
                        <m:nor/>
                      </m:rPr>
                      <a:rPr lang="en-US"/>
                      <m:t>)</m:t>
                    </m:r>
                  </m:oMath>
                </a14:m>
                <a:r>
                  <a:rPr lang="ar-AE" dirty="0"/>
                  <a:t>, </a:t>
                </a:r>
                <a:r>
                  <a:rPr lang="ru-RU" dirty="0"/>
                  <a:t>т.к. 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4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≠</m:t>
                    </m:r>
                    <m:r>
                      <a:rPr lang="ru-RU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ru-RU" dirty="0"/>
                  <a:t>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Текст 5">
                <a:extLst>
                  <a:ext uri="{FF2B5EF4-FFF2-40B4-BE49-F238E27FC236}">
                    <a16:creationId xmlns:a16="http://schemas.microsoft.com/office/drawing/2014/main" id="{C9A927D3-D22C-72D3-9160-2A7238153B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45862" y="943208"/>
                <a:ext cx="8282882" cy="3875536"/>
              </a:xfrm>
              <a:blipFill>
                <a:blip r:embed="rId2"/>
                <a:stretch>
                  <a:fillRect l="-221" t="-3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60157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60054-257A-D345-17BA-D483DB78E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19594F6-8CE5-1972-5ACD-194077FA6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Задание 8 (доказательство)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Текст 5">
                <a:extLst>
                  <a:ext uri="{FF2B5EF4-FFF2-40B4-BE49-F238E27FC236}">
                    <a16:creationId xmlns:a16="http://schemas.microsoft.com/office/drawing/2014/main" id="{195D6638-2D70-BDC9-E17C-C9F80B31AA2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45862" y="943208"/>
                <a:ext cx="8282882" cy="3875536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N-</a:t>
                </a:r>
                <a:r>
                  <a:rPr lang="ru-RU" b="1" dirty="0"/>
                  <a:t>мерный</a:t>
                </a:r>
                <a:r>
                  <a:rPr lang="en-US" b="1" dirty="0"/>
                  <a:t> </a:t>
                </a:r>
                <a:r>
                  <a:rPr lang="ru-RU" b="1" dirty="0"/>
                  <a:t>случай (обобщение)</a:t>
                </a:r>
              </a:p>
              <a:p>
                <a:r>
                  <a:rPr lang="ru-RU" dirty="0"/>
                  <a:t>1. Определение </a:t>
                </a:r>
                <a:r>
                  <a:rPr lang="en-US" dirty="0"/>
                  <a:t>n-</a:t>
                </a:r>
                <a:r>
                  <a:rPr lang="ru-RU" dirty="0"/>
                  <a:t>многообразия</a:t>
                </a:r>
                <a:br>
                  <a:rPr lang="ru-RU" dirty="0"/>
                </a:br>
                <a:r>
                  <a:rPr lang="ru-RU" dirty="0"/>
                  <a:t>Каждая точка имеет окрестность 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≅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/>
                  <a:t>.</a:t>
                </a:r>
              </a:p>
              <a:p>
                <a:r>
                  <a:rPr lang="ar-AE" dirty="0"/>
                  <a:t>2. </a:t>
                </a:r>
                <a:r>
                  <a:rPr lang="ru-RU" dirty="0"/>
                  <a:t>Инвариант шара</a:t>
                </a:r>
                <a:br>
                  <a:rPr lang="ru-RU" dirty="0"/>
                </a:br>
                <a:r>
                  <a:rPr lang="ru-RU" dirty="0"/>
                  <a:t>Для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ru-RU" dirty="0"/>
                  <a:t>: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 </a:t>
                </a:r>
                <a:r>
                  <a:rPr lang="ru-RU" dirty="0"/>
                  <a:t>связно (1 компонента).</a:t>
                </a:r>
              </a:p>
              <a:p>
                <a:r>
                  <a:rPr lang="ru-RU" dirty="0"/>
                  <a:t>3. "Крест" в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br>
                  <a:rPr lang="ar-AE" dirty="0"/>
                </a:br>
                <a:r>
                  <a:rPr lang="ru-RU" dirty="0"/>
                  <a:t>Два гиперплоскости, пересекающиеся по 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ar-AE" dirty="0"/>
                  <a:t>-</a:t>
                </a:r>
                <a:r>
                  <a:rPr lang="ru-RU" dirty="0"/>
                  <a:t>мерному подпространству.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⊂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: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d>
                  </m:oMath>
                </a14:m>
                <a:r>
                  <a:rPr lang="ar-AE" dirty="0"/>
                  <a:t> = ≥2 </a:t>
                </a:r>
                <a:r>
                  <a:rPr lang="ru-RU" dirty="0"/>
                  <a:t>компоненты ("полупространства").</a:t>
                </a:r>
              </a:p>
              <a:p>
                <a:r>
                  <a:rPr lang="ru-RU" dirty="0"/>
                  <a:t>4. Противоречие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/>
                      <m:t>U</m:t>
                    </m:r>
                    <m:r>
                      <m:rPr>
                        <m:nor/>
                      </m:rPr>
                      <a:rPr lang="ru-RU"/>
                      <m:t> </m:t>
                    </m:r>
                    <m:r>
                      <m:rPr>
                        <m:nor/>
                      </m:rPr>
                      <a:rPr lang="ru-RU"/>
                      <m:t>не</m:t>
                    </m:r>
                    <m:r>
                      <m:rPr>
                        <m:nor/>
                      </m:rPr>
                      <a:rPr lang="en-US"/>
                      <m:t>≅</m:t>
                    </m:r>
                    <m:r>
                      <m:rPr>
                        <m:nor/>
                      </m:rPr>
                      <a:rPr lang="en-US" i="1"/>
                      <m:t>V</m:t>
                    </m:r>
                    <m:r>
                      <m:rPr>
                        <m:nor/>
                      </m:rPr>
                      <a:rPr lang="en-US"/>
                      <m:t>⊂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nor/>
                      </m:rPr>
                      <a:rPr lang="ar-AE" dirty="0"/>
                      <m:t>,</m:t>
                    </m:r>
                  </m:oMath>
                </a14:m>
                <a:r>
                  <a:rPr lang="ar-AE" dirty="0"/>
                  <a:t>, </a:t>
                </a:r>
                <a:r>
                  <a:rPr lang="ru-RU" dirty="0"/>
                  <a:t>т.к. ≥2 ≠ 1 компонента.</a:t>
                </a:r>
              </a:p>
              <a:p>
                <a:r>
                  <a:rPr lang="ru-RU" dirty="0"/>
                  <a:t>Вывод</a:t>
                </a:r>
              </a:p>
              <a:p>
                <a:r>
                  <a:rPr lang="ru-RU" dirty="0"/>
                  <a:t>"Кресты" ни в какой размерности не являются топологическими многообразиями.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Текст 5">
                <a:extLst>
                  <a:ext uri="{FF2B5EF4-FFF2-40B4-BE49-F238E27FC236}">
                    <a16:creationId xmlns:a16="http://schemas.microsoft.com/office/drawing/2014/main" id="{195D6638-2D70-BDC9-E17C-C9F80B31AA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45862" y="943208"/>
                <a:ext cx="8282882" cy="3875536"/>
              </a:xfrm>
              <a:blipFill>
                <a:blip r:embed="rId2"/>
                <a:stretch>
                  <a:fillRect l="-295" t="-3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9663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Задание 9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600" dirty="0">
                <a:latin typeface="Golos Text" panose="020B0503020202020204"/>
              </a:rPr>
              <a:t>Задача:</a:t>
            </a:r>
            <a:br>
              <a:rPr lang="ru-RU" sz="1600" dirty="0">
                <a:latin typeface="Golos Text" panose="020B0503020202020204"/>
              </a:rPr>
            </a:br>
            <a:r>
              <a:rPr lang="ru-RU" dirty="0"/>
              <a:t>Определить положение точки относительно вершин остроугольного треугольника ABC</a:t>
            </a:r>
          </a:p>
          <a:p>
            <a:r>
              <a:rPr lang="ru-RU" dirty="0"/>
              <a:t>так, чтобы сумма расстояний от этой точки до вершин треугольника была наименьшей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Вообще, это решается с помощью геометрии и </a:t>
            </a:r>
            <a:r>
              <a:rPr lang="ru-RU" dirty="0" err="1"/>
              <a:t>вымучивания</a:t>
            </a:r>
            <a:r>
              <a:rPr lang="ru-RU" dirty="0"/>
              <a:t> неравенства в 2 строчки, но команда приняла волевое решение делать  ((это)) через </a:t>
            </a:r>
            <a:r>
              <a:rPr lang="ru-RU" dirty="0" err="1"/>
              <a:t>матан</a:t>
            </a:r>
            <a:r>
              <a:rPr lang="ru-RU" dirty="0"/>
              <a:t>. Вашему вниманию…</a:t>
            </a:r>
            <a:endParaRPr lang="ru-RU" sz="1600" dirty="0">
              <a:latin typeface="Golos Text" panose="020B05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758338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Задание 9 ( решение )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72" y="1097555"/>
            <a:ext cx="7058132" cy="3448050"/>
          </a:xfrm>
        </p:spPr>
      </p:pic>
    </p:spTree>
    <p:extLst>
      <p:ext uri="{BB962C8B-B14F-4D97-AF65-F5344CB8AC3E}">
        <p14:creationId xmlns:p14="http://schemas.microsoft.com/office/powerpoint/2010/main" val="10430549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Задание 9 ( решение )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Градиент функции будет принимать вид</a:t>
            </a:r>
            <a:br>
              <a:rPr lang="ru-RU" dirty="0"/>
            </a:br>
            <a:r>
              <a:rPr lang="ru-RU" dirty="0"/>
              <a:t>Функция «выпуклая» и постоянно растет</a:t>
            </a:r>
            <a:r>
              <a:rPr lang="en-US" dirty="0"/>
              <a:t> =&gt;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При </a:t>
            </a:r>
            <a:r>
              <a:rPr lang="ru-RU" dirty="0" err="1"/>
              <a:t>равентсвен</a:t>
            </a:r>
            <a:r>
              <a:rPr lang="ru-RU" dirty="0"/>
              <a:t> нулю мы получим локальный </a:t>
            </a:r>
            <a:br>
              <a:rPr lang="ru-RU" dirty="0"/>
            </a:br>
            <a:r>
              <a:rPr lang="ru-RU" dirty="0"/>
              <a:t>минимум.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Из этого получаем условие для того, чтобы получить «минимальную точку </a:t>
            </a:r>
            <a:r>
              <a:rPr lang="en-US" dirty="0"/>
              <a:t>P</a:t>
            </a:r>
            <a:r>
              <a:rPr lang="ru-RU" dirty="0"/>
              <a:t>», она должна удовлетворять следующим условиям: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sz="1100" dirty="0"/>
            </a:br>
            <a:br>
              <a:rPr lang="ru-RU" sz="1100" dirty="0"/>
            </a:br>
            <a:br>
              <a:rPr lang="ru-RU" sz="1100" dirty="0"/>
            </a:br>
            <a:r>
              <a:rPr lang="ru-RU" sz="1100" dirty="0"/>
              <a:t>+ почему в знаменателе именно то, что мы видим</a:t>
            </a:r>
            <a:br>
              <a:rPr lang="ru-RU" sz="1100" dirty="0"/>
            </a:br>
            <a:br>
              <a:rPr lang="ru-RU" sz="1100" dirty="0"/>
            </a:br>
            <a:endParaRPr lang="ru-RU" sz="11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57" y="2846545"/>
            <a:ext cx="5420933" cy="76841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57" y="3881812"/>
            <a:ext cx="4566454" cy="8662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643" y="1100570"/>
            <a:ext cx="4058216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474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 txBox="1"/>
          <p:nvPr/>
        </p:nvSpPr>
        <p:spPr>
          <a:xfrm>
            <a:off x="6383576" y="4468762"/>
            <a:ext cx="2411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папвалыопдвылжпов</a:t>
            </a:r>
            <a:endParaRPr lang="ru-RU" dirty="0">
              <a:solidFill>
                <a:schemeClr val="bg1"/>
              </a:solidFill>
              <a:latin typeface="Golos Text" panose="020B0503020202020204" pitchFamily="34" charset="-52"/>
              <a:cs typeface="Golos Text" panose="020B0503020202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5519</TotalTime>
  <Words>1431</Words>
  <Application>Microsoft Office PowerPoint</Application>
  <PresentationFormat>Экран (16:9)</PresentationFormat>
  <Paragraphs>96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1" baseType="lpstr">
      <vt:lpstr>ALS Gorizont Bold Expanded</vt:lpstr>
      <vt:lpstr>Arial</vt:lpstr>
      <vt:lpstr>Calibri</vt:lpstr>
      <vt:lpstr>Cambria Math</vt:lpstr>
      <vt:lpstr>Golos Text</vt:lpstr>
      <vt:lpstr>Golos Text DemiBold</vt:lpstr>
      <vt:lpstr>Тема1</vt:lpstr>
      <vt:lpstr>РГР Команда 6</vt:lpstr>
      <vt:lpstr>Задание 1 – Вычисление повторных пределов и двойного предела</vt:lpstr>
      <vt:lpstr>1.3 - Траектория на графике</vt:lpstr>
      <vt:lpstr>Задание 2 - Линии уровня и градиент</vt:lpstr>
      <vt:lpstr>2.3 – поиск градиента </vt:lpstr>
      <vt:lpstr>Задание 3 – Условный и локальный экстремум</vt:lpstr>
      <vt:lpstr>Задание 4 - Интегралы</vt:lpstr>
      <vt:lpstr>Задание 4 – аналитическое вычисление как повторного интеграла</vt:lpstr>
      <vt:lpstr>4.3 Определение двойного интеграла и интегральные суммы</vt:lpstr>
      <vt:lpstr>4.3 Определение двойного интеграла и интегральные суммы ( продолжение)</vt:lpstr>
      <vt:lpstr>4.3 Посчитали на питоне</vt:lpstr>
      <vt:lpstr>Задание 5 – махинации с векторным полем</vt:lpstr>
      <vt:lpstr>5.1 – убедиться что поле потенциально</vt:lpstr>
      <vt:lpstr>5.2 – найти уравнение векторных линий</vt:lpstr>
      <vt:lpstr>5.3 – найти потенциал поле при помощи криволинейного интеграла</vt:lpstr>
      <vt:lpstr>5.4 - Иллюстрации </vt:lpstr>
      <vt:lpstr>5.5 – найти работу поля</vt:lpstr>
      <vt:lpstr>Задание 6 – мучить тело, ограниченное функциями</vt:lpstr>
      <vt:lpstr>Задание 6 – еще графики. Если вам интересны ограничения…</vt:lpstr>
      <vt:lpstr>Задание 6 –  потоки…поля…</vt:lpstr>
      <vt:lpstr>Задание 6 – скучное выполнение </vt:lpstr>
      <vt:lpstr>Задание 6 – интеграл</vt:lpstr>
      <vt:lpstr>Задание 6 – интеграл</vt:lpstr>
      <vt:lpstr>Задание 7</vt:lpstr>
      <vt:lpstr>Задание 7 - решение</vt:lpstr>
      <vt:lpstr>Задание 7 - решение</vt:lpstr>
      <vt:lpstr>Задание 7 - рисуночек</vt:lpstr>
      <vt:lpstr>Задание 8</vt:lpstr>
      <vt:lpstr>Задание 8 (доказательство)</vt:lpstr>
      <vt:lpstr>Задание 8 (доказательство)</vt:lpstr>
      <vt:lpstr>Задание 9</vt:lpstr>
      <vt:lpstr>Задание 9 ( решение )</vt:lpstr>
      <vt:lpstr>Задание 9 ( решение )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FNU LNU</cp:lastModifiedBy>
  <cp:revision>184</cp:revision>
  <dcterms:created xsi:type="dcterms:W3CDTF">2014-06-27T12:30:22Z</dcterms:created>
  <dcterms:modified xsi:type="dcterms:W3CDTF">2026-01-12T16:09:18Z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2026-01-12T16:09:18Z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82b70a2d-30f9-4534-8fd6-9bb237da0a46</vt:lpwstr>
  </property>
  <property fmtid="{D5CDD505-2E9C-101B-9397-08002B2CF9AE}" pid="7" name="MSIP_Label_defa4170-0d19-0005-0004-bc88714345d2_ActionId">
    <vt:lpwstr>d542d7f8-24c6-4a1a-b6ac-55fa98d171b9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