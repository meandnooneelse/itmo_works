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этап 3: мы не рисуем кнопки, а решаем, из каких разделов и сущностей состоит продукт. Слева на обложке — обычный чат с хаосом, справа — «Сбор» со слоем закреплённого.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Знакомая картина: одна фраза «Скиньте адрес плиз» — и сообщение утонуло под мемами. Эти три боли определяют всю структуру продукта.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Справа тот же чат, но с закреплённым слоем сверху и шкалой «решено 3 из 5». Всё, что нужно знать о встрече, видно, не листая переписку.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Подробные свойства всех сущностей — в текстовом документе. Здесь восемь основных; Сбор и Пин выделены, потому что вокруг них строится всё остальное.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Вложенность: Сбор → Сообщения, Пины → Ответы, Участники, Приглашения. Пользователь, друзья и шаблоны опросов находятся снаружи и подключаются к сбору.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архитектурное решение этапа. Выбираем гибрид: для MVP остаётся плоская структура, а повторяющимся компаниям помогает кнопка «Повторить сбор».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Рассматривали ещё два варианта: три раздела (Сборы, Друзья, Профиль) и «Календарь» вместо «Главного». Первый оставляет человека без подсказки, второй для MVP лишний.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Закреплённое выделено: именно этот слой отличает «Сбор» от обычного мессенджера. Упрощённый вариант — две вкладки, Чат и Закреплённое, а Итоги и Участники уходят в меню.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главные групповые механики MVP. «Что я пропустил» закрывает историю про опоздавшего участника, быстрый опрос — историю про долгий консенсус.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та самая блок-схема, которую нужно загрузить на Яндекс.Диск. Сверху четыре раздела навигации, снизу пять разделов внутри сбора.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улучшение в MVP закрывает одну из пяти user stories этапа 2. «Повторить сбор» уже включён в раздел «Сборы».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названия не длиннее трёх слов. Тест с реальными людьми ещё предстоит провести: результаты нужно будет вписать в отчёт.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готова: четыре раздела навигации, пять разделов внутри сбора и слой закреплённого как главное отличие продукта.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10921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90701"/>
            <a:ext cx="10566400" cy="425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10921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90701"/>
            <a:ext cx="10566400" cy="425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Обычный чат: хаос из сообщений и +37 непрочитанных">    </p:cNvPr>
          <p:cNvPicPr>
            <a:picLocks noChangeAspect="1"/>
          </p:cNvPicPr>
          <p:nvPr/>
        </p:nvPicPr>
        <p:blipFill>
          <a:blip r:embed="rId1"/>
          <a:srcRect l="0" r="0" t="14" b="14"/>
          <a:stretch/>
        </p:blipFill>
        <p:spPr>
          <a:xfrm rot="21180000">
            <a:off x="6350000" y="1079500"/>
            <a:ext cx="2159000" cy="4419600"/>
          </a:xfrm>
          <a:prstGeom prst="roundRect">
            <a:avLst>
              <a:gd name="adj" fmla="val 11176"/>
            </a:avLst>
          </a:prstGeom>
          <a:effectLst>
            <a:outerShdw sx="100000" sy="100000" kx="0" ky="0" algn="bl" rotWithShape="0" blurRad="381000" dist="190500" dir="5400000">
              <a:srgbClr val="000000">
                <a:alpha val="45000"/>
              </a:srgbClr>
            </a:outerShdw>
          </a:effectLst>
        </p:spPr>
      </p:pic>
      <p:pic>
        <p:nvPicPr>
          <p:cNvPr id="3" name="Image 1" descr="Чат «Сбор»: закреплённые место, время, опрос и чек-лист">    </p:cNvPr>
          <p:cNvPicPr>
            <a:picLocks noChangeAspect="1"/>
          </p:cNvPicPr>
          <p:nvPr/>
        </p:nvPicPr>
        <p:blipFill>
          <a:blip r:embed="rId2"/>
          <a:srcRect l="0" r="0" t="14" b="14"/>
          <a:stretch/>
        </p:blipFill>
        <p:spPr>
          <a:xfrm rot="360000">
            <a:off x="8572500" y="1333500"/>
            <a:ext cx="2159000" cy="4419600"/>
          </a:xfrm>
          <a:prstGeom prst="roundRect">
            <a:avLst>
              <a:gd name="adj" fmla="val 11176"/>
            </a:avLst>
          </a:prstGeom>
          <a:effectLst>
            <a:outerShdw sx="100000" sy="100000" kx="0" ky="0" algn="bl" rotWithShape="0" blurRad="381000" dist="190500" dir="5400000">
              <a:srgbClr val="000000">
                <a:alpha val="45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812800" y="1308100"/>
            <a:ext cx="562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C9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СЕРВИС «СБОР» · ЭТАП 3</a:t>
            </a:r>
            <a:endParaRPr lang="en-US" sz="14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1785620"/>
            <a:ext cx="5624830" cy="2265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FF8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устроен «Сбор» изнутри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812800" y="4254500"/>
            <a:ext cx="52324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8DCE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Информационная архитектура: сущности, разделы и схема навигации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12800" y="5123180"/>
            <a:ext cx="2755186" cy="42672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Один чат · всё закреплено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Чат «Шашлыки в субботу»: мемы, голосовые, вопросы без ответа и +37 непрочитанных">    </p:cNvPr>
          <p:cNvPicPr>
            <a:picLocks noChangeAspect="1"/>
          </p:cNvPicPr>
          <p:nvPr/>
        </p:nvPicPr>
        <p:blipFill>
          <a:blip r:embed="rId1"/>
          <a:srcRect l="0" r="0" t="-58" b="-58"/>
          <a:stretch/>
        </p:blipFill>
        <p:spPr>
          <a:xfrm>
            <a:off x="8839200" y="609600"/>
            <a:ext cx="2540000" cy="520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558800"/>
            <a:ext cx="7717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036320"/>
            <a:ext cx="771779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Встреча в мессенджере — это сотни сообщений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12800" y="2214880"/>
            <a:ext cx="7493000" cy="932180"/>
          </a:xfrm>
          <a:prstGeom prst="roundRect">
            <a:avLst>
              <a:gd name="adj" fmla="val 19074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812800" y="2214880"/>
            <a:ext cx="7493000" cy="932180"/>
          </a:xfrm>
          <a:custGeom>
            <a:avLst/>
            <a:gdLst/>
            <a:ahLst/>
            <a:cxnLst/>
            <a:rect l="l" t="t" r="r" b="b"/>
            <a:pathLst>
              <a:path w="7493000" h="932180">
                <a:moveTo>
                  <a:pt x="177800" y="932180"/>
                </a:moveTo>
                <a:lnTo>
                  <a:pt x="177800" y="93218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lnTo>
                  <a:pt x="177800" y="0"/>
                </a:lnTo>
                <a:arcTo hR="177800" wR="101600" stAng="16200000" swAng="-5400000"/>
                <a:lnTo>
                  <a:pt x="76200" y="754380"/>
                </a:lnTo>
                <a:arcTo hR="177800" wR="101600" stAng="10800000" swAng="-5400000"/>
                <a:close/>
              </a:path>
            </a:pathLst>
          </a:custGeom>
          <a:solidFill>
            <a:srgbClr val="FF6B4A"/>
          </a:solidFill>
          <a:ln/>
        </p:spPr>
      </p:sp>
      <p:sp>
        <p:nvSpPr>
          <p:cNvPr id="7" name="Text 4"/>
          <p:cNvSpPr/>
          <p:nvPr/>
        </p:nvSpPr>
        <p:spPr>
          <a:xfrm>
            <a:off x="1117600" y="2392680"/>
            <a:ext cx="716838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🌊 Информационный флуд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17600" y="2720340"/>
            <a:ext cx="716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Чтобы найти адрес, нужно пролистать кучу мемов и голосовых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2800" y="3274060"/>
            <a:ext cx="7493000" cy="1181100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12800" y="3274060"/>
            <a:ext cx="7493000" cy="1181100"/>
          </a:xfrm>
          <a:custGeom>
            <a:avLst/>
            <a:gdLst/>
            <a:ahLst/>
            <a:cxnLst/>
            <a:rect l="l" t="t" r="r" b="b"/>
            <a:pathLst>
              <a:path w="7493000" h="1181100">
                <a:moveTo>
                  <a:pt x="177800" y="1181100"/>
                </a:moveTo>
                <a:lnTo>
                  <a:pt x="177800" y="11811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lnTo>
                  <a:pt x="177800" y="0"/>
                </a:lnTo>
                <a:arcTo hR="177800" wR="101600" stAng="16200000" swAng="-5400000"/>
                <a:lnTo>
                  <a:pt x="76200" y="1003300"/>
                </a:lnTo>
                <a:arcTo hR="177800" wR="101600" stAng="10800000" swAng="-5400000"/>
                <a:close/>
              </a:path>
            </a:pathLst>
          </a:custGeom>
          <a:solidFill>
            <a:srgbClr val="8E5BD9"/>
          </a:solidFill>
          <a:ln/>
        </p:spPr>
      </p:sp>
      <p:sp>
        <p:nvSpPr>
          <p:cNvPr id="11" name="Text 8"/>
          <p:cNvSpPr/>
          <p:nvPr/>
        </p:nvSpPr>
        <p:spPr>
          <a:xfrm>
            <a:off x="1117600" y="3451860"/>
            <a:ext cx="716838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🕳️ Потерянный контекст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117600" y="3779520"/>
            <a:ext cx="716838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Пропустил обсуждение — спрашивай всех заново, и флуда становится ещё больше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2800" y="4582160"/>
            <a:ext cx="7493000" cy="932180"/>
          </a:xfrm>
          <a:prstGeom prst="roundRect">
            <a:avLst>
              <a:gd name="adj" fmla="val 19074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4582160"/>
            <a:ext cx="7493000" cy="932180"/>
          </a:xfrm>
          <a:custGeom>
            <a:avLst/>
            <a:gdLst/>
            <a:ahLst/>
            <a:cxnLst/>
            <a:rect l="l" t="t" r="r" b="b"/>
            <a:pathLst>
              <a:path w="7493000" h="932180">
                <a:moveTo>
                  <a:pt x="177800" y="932180"/>
                </a:moveTo>
                <a:lnTo>
                  <a:pt x="177800" y="93218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lnTo>
                  <a:pt x="177800" y="0"/>
                </a:lnTo>
                <a:arcTo hR="177800" wR="101600" stAng="16200000" swAng="-5400000"/>
                <a:lnTo>
                  <a:pt x="76200" y="754380"/>
                </a:lnTo>
                <a:arcTo hR="177800" wR="101600" stAng="10800000" swAng="-5400000"/>
                <a:close/>
              </a:path>
            </a:pathLst>
          </a:custGeom>
          <a:solidFill>
            <a:srgbClr val="2B7FD9"/>
          </a:solidFill>
          <a:ln/>
        </p:spPr>
      </p:sp>
      <p:sp>
        <p:nvSpPr>
          <p:cNvPr id="15" name="Text 12"/>
          <p:cNvSpPr/>
          <p:nvPr/>
        </p:nvSpPr>
        <p:spPr>
          <a:xfrm>
            <a:off x="1117600" y="4759960"/>
            <a:ext cx="7168388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🐌 Долгий консенсус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117600" y="5087620"/>
            <a:ext cx="716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Нельзя быстро заставить всех определиться с местом, временем и едой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2800" y="62890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62890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Чат «Сбор» со слоем закреплённого: место, время, опрос, чек-лист и прогресс «решено 3 из 5»">    </p:cNvPr>
          <p:cNvPicPr>
            <a:picLocks noChangeAspect="1"/>
          </p:cNvPicPr>
          <p:nvPr/>
        </p:nvPicPr>
        <p:blipFill>
          <a:blip r:embed="rId1"/>
          <a:srcRect l="0" r="0" t="-58" b="-58"/>
          <a:stretch/>
        </p:blipFill>
        <p:spPr>
          <a:xfrm>
            <a:off x="8839200" y="609600"/>
            <a:ext cx="2540000" cy="520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558800"/>
            <a:ext cx="7717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ИДЕЯ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036320"/>
            <a:ext cx="7717790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«Сбор» — чат со слоем порядка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12800" y="1739900"/>
            <a:ext cx="3670300" cy="1216660"/>
          </a:xfrm>
          <a:prstGeom prst="roundRect">
            <a:avLst>
              <a:gd name="adj" fmla="val 14614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1930400"/>
            <a:ext cx="33356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📍 Место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8700" y="2286000"/>
            <a:ext cx="333565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«Парк у набережной» — одним пином, а не в переписке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35500" y="1739900"/>
            <a:ext cx="3670300" cy="1216660"/>
          </a:xfrm>
          <a:prstGeom prst="roundRect">
            <a:avLst>
              <a:gd name="adj" fmla="val 14614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851400" y="1930400"/>
            <a:ext cx="33356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🗓️ Время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851400" y="2286000"/>
            <a:ext cx="333565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«Суббота, 18:00» — видно всем в один взгляд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2800" y="3108961"/>
            <a:ext cx="3670300" cy="1216660"/>
          </a:xfrm>
          <a:prstGeom prst="roundRect">
            <a:avLst>
              <a:gd name="adj" fmla="val 14614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28700" y="3299461"/>
            <a:ext cx="33356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📊 Опрос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28700" y="3655061"/>
            <a:ext cx="333565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«Что берём из еды?» — быстрый консенсус по шаблону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35500" y="3108961"/>
            <a:ext cx="3670300" cy="1216660"/>
          </a:xfrm>
          <a:prstGeom prst="roundRect">
            <a:avLst>
              <a:gd name="adj" fmla="val 14614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4851400" y="3299461"/>
            <a:ext cx="33356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✅ Чек-лист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851400" y="3655061"/>
            <a:ext cx="333565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Хлеб — Дима, уголь — Саша: никто не купит дважды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2800" y="4554220"/>
            <a:ext cx="7493000" cy="8890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/>
        </p:spPr>
        <p:txBody>
          <a:bodyPr wrap="square" lIns="176524" tIns="125724" rIns="0" bIns="100324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Пин — главная сущность продукта: закреплённая карточка с типом, автором и историей изменений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2800" y="62890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62890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СУЩНОСТИ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092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11 сущностей, главные — Сбор и Пин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689100"/>
            <a:ext cx="2527300" cy="1397635"/>
          </a:xfrm>
          <a:prstGeom prst="roundRect">
            <a:avLst>
              <a:gd name="adj" fmla="val 1090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89100"/>
            <a:ext cx="2527300" cy="1397635"/>
          </a:xfrm>
          <a:custGeom>
            <a:avLst/>
            <a:gdLst/>
            <a:ahLst/>
            <a:cxnLst/>
            <a:rect l="l" t="t" r="r" b="b"/>
            <a:pathLst>
              <a:path w="2527300" h="1397635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2374900" y="0"/>
                </a:lnTo>
                <a:arcTo hR="152400" wR="152400" stAng="16200000" swAng="5400000"/>
                <a:lnTo>
                  <a:pt x="2527300" y="152400"/>
                </a:lnTo>
                <a:arcTo hR="88900" wR="152400" stAng="0" swAng="-5400000"/>
                <a:lnTo>
                  <a:pt x="152400" y="63500"/>
                </a:lnTo>
                <a:arcTo hR="88900" wR="152400" stAng="16200000" swAng="-5400000"/>
                <a:close/>
              </a:path>
            </a:pathLst>
          </a:custGeom>
          <a:solidFill>
            <a:srgbClr val="8E5BD9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915161"/>
            <a:ext cx="22368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Пользователь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2252980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имя, ник, аватар, телефон, настройки уведомлений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2500" y="1689100"/>
            <a:ext cx="2527300" cy="1397635"/>
          </a:xfrm>
          <a:prstGeom prst="roundRect">
            <a:avLst>
              <a:gd name="adj" fmla="val 10904"/>
            </a:avLst>
          </a:prstGeom>
          <a:solidFill>
            <a:srgbClr val="FFF1CC"/>
          </a:solidFill>
          <a:ln/>
        </p:spPr>
      </p:sp>
      <p:sp>
        <p:nvSpPr>
          <p:cNvPr id="9" name="Shape 7"/>
          <p:cNvSpPr/>
          <p:nvPr/>
        </p:nvSpPr>
        <p:spPr>
          <a:xfrm>
            <a:off x="3492500" y="1689100"/>
            <a:ext cx="2527300" cy="1397635"/>
          </a:xfrm>
          <a:custGeom>
            <a:avLst/>
            <a:gdLst/>
            <a:ahLst/>
            <a:cxnLst/>
            <a:rect l="l" t="t" r="r" b="b"/>
            <a:pathLst>
              <a:path w="2527300" h="1397635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2374900" y="0"/>
                </a:lnTo>
                <a:arcTo hR="152400" wR="152400" stAng="16200000" swAng="5400000"/>
                <a:lnTo>
                  <a:pt x="2527300" y="152400"/>
                </a:lnTo>
                <a:arcTo hR="88900" wR="152400" stAng="0" swAng="-5400000"/>
                <a:lnTo>
                  <a:pt x="152400" y="63500"/>
                </a:lnTo>
                <a:arcTo hR="88900" wR="152400" stAng="16200000" swAng="-5400000"/>
                <a:close/>
              </a:path>
            </a:pathLst>
          </a:custGeom>
          <a:solidFill>
            <a:srgbClr val="FFC93C"/>
          </a:solidFill>
          <a:ln/>
        </p:spPr>
      </p:sp>
      <p:sp>
        <p:nvSpPr>
          <p:cNvPr id="10" name="Text 8"/>
          <p:cNvSpPr/>
          <p:nvPr/>
        </p:nvSpPr>
        <p:spPr>
          <a:xfrm>
            <a:off x="3670300" y="1915161"/>
            <a:ext cx="22368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Сбор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70300" y="2252980"/>
            <a:ext cx="2236851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название, тип встречи, статус, ссылка-приглашение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89100"/>
            <a:ext cx="2527300" cy="1397635"/>
          </a:xfrm>
          <a:prstGeom prst="roundRect">
            <a:avLst>
              <a:gd name="adj" fmla="val 1090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689100"/>
            <a:ext cx="2527300" cy="1397635"/>
          </a:xfrm>
          <a:custGeom>
            <a:avLst/>
            <a:gdLst/>
            <a:ahLst/>
            <a:cxnLst/>
            <a:rect l="l" t="t" r="r" b="b"/>
            <a:pathLst>
              <a:path w="2527300" h="1397635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2374900" y="0"/>
                </a:lnTo>
                <a:arcTo hR="152400" wR="152400" stAng="16200000" swAng="5400000"/>
                <a:lnTo>
                  <a:pt x="2527300" y="152400"/>
                </a:lnTo>
                <a:arcTo hR="88900" wR="152400" stAng="0" swAng="-5400000"/>
                <a:lnTo>
                  <a:pt x="152400" y="63500"/>
                </a:lnTo>
                <a:arcTo hR="88900" wR="152400" stAng="16200000" swAng="-5400000"/>
                <a:close/>
              </a:path>
            </a:pathLst>
          </a:custGeom>
          <a:solidFill>
            <a:srgbClr val="2B7FD9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0" y="1915161"/>
            <a:ext cx="22368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Участник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0000" y="2252980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роль, статус, время последнего просмотра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1900" y="1689100"/>
            <a:ext cx="2527300" cy="1397635"/>
          </a:xfrm>
          <a:prstGeom prst="roundRect">
            <a:avLst>
              <a:gd name="adj" fmla="val 10904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1900" y="1689100"/>
            <a:ext cx="2527300" cy="1397635"/>
          </a:xfrm>
          <a:custGeom>
            <a:avLst/>
            <a:gdLst/>
            <a:ahLst/>
            <a:cxnLst/>
            <a:rect l="l" t="t" r="r" b="b"/>
            <a:pathLst>
              <a:path w="2527300" h="1397635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2374900" y="0"/>
                </a:lnTo>
                <a:arcTo hR="152400" wR="152400" stAng="16200000" swAng="5400000"/>
                <a:lnTo>
                  <a:pt x="2527300" y="152400"/>
                </a:lnTo>
                <a:arcTo hR="88900" wR="152400" stAng="0" swAng="-5400000"/>
                <a:lnTo>
                  <a:pt x="152400" y="63500"/>
                </a:lnTo>
                <a:arcTo hR="88900" wR="152400" stAng="16200000" swAng="-5400000"/>
                <a:close/>
              </a:path>
            </a:pathLst>
          </a:custGeom>
          <a:solidFill>
            <a:srgbClr val="2B7FD9"/>
          </a:solidFill>
          <a:ln/>
        </p:spPr>
      </p:sp>
      <p:sp>
        <p:nvSpPr>
          <p:cNvPr id="18" name="Text 16"/>
          <p:cNvSpPr/>
          <p:nvPr/>
        </p:nvSpPr>
        <p:spPr>
          <a:xfrm>
            <a:off x="9029700" y="1915161"/>
            <a:ext cx="22368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Сообщение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29700" y="2252980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автор, тип, содержимое, реакции, связанный пин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3239136"/>
            <a:ext cx="2527300" cy="1174750"/>
          </a:xfrm>
          <a:prstGeom prst="roundRect">
            <a:avLst>
              <a:gd name="adj" fmla="val 12973"/>
            </a:avLst>
          </a:prstGeom>
          <a:solidFill>
            <a:srgbClr val="FFF1CC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00" y="3239136"/>
            <a:ext cx="2527300" cy="1174750"/>
          </a:xfrm>
          <a:custGeom>
            <a:avLst/>
            <a:gdLst/>
            <a:ahLst/>
            <a:cxnLst/>
            <a:rect l="l" t="t" r="r" b="b"/>
            <a:pathLst>
              <a:path w="2527300" h="117475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2374900" y="0"/>
                </a:lnTo>
                <a:arcTo hR="152400" wR="152400" stAng="16200000" swAng="5400000"/>
                <a:lnTo>
                  <a:pt x="2527300" y="152400"/>
                </a:lnTo>
                <a:arcTo hR="88900" wR="152400" stAng="0" swAng="-5400000"/>
                <a:lnTo>
                  <a:pt x="152400" y="63500"/>
                </a:lnTo>
                <a:arcTo hR="88900" wR="152400" stAng="16200000" swAng="-5400000"/>
                <a:close/>
              </a:path>
            </a:pathLst>
          </a:custGeom>
          <a:solidFill>
            <a:srgbClr val="FFC93C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3465195"/>
            <a:ext cx="22368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Пин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0600" y="3803016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тип, заголовок, статус, автор, история изменений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92500" y="3239136"/>
            <a:ext cx="2527300" cy="117475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492500" y="3239136"/>
            <a:ext cx="2527300" cy="1174750"/>
          </a:xfrm>
          <a:custGeom>
            <a:avLst/>
            <a:gdLst/>
            <a:ahLst/>
            <a:cxnLst/>
            <a:rect l="l" t="t" r="r" b="b"/>
            <a:pathLst>
              <a:path w="2527300" h="117475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2374900" y="0"/>
                </a:lnTo>
                <a:arcTo hR="152400" wR="152400" stAng="16200000" swAng="5400000"/>
                <a:lnTo>
                  <a:pt x="2527300" y="152400"/>
                </a:lnTo>
                <a:arcTo hR="88900" wR="152400" stAng="0" swAng="-5400000"/>
                <a:lnTo>
                  <a:pt x="152400" y="63500"/>
                </a:lnTo>
                <a:arcTo hR="88900" wR="152400" stAng="16200000" swAng="-5400000"/>
                <a:close/>
              </a:path>
            </a:pathLst>
          </a:custGeom>
          <a:solidFill>
            <a:srgbClr val="8E5BD9"/>
          </a:solidFill>
          <a:ln/>
        </p:spPr>
      </p:sp>
      <p:sp>
        <p:nvSpPr>
          <p:cNvPr id="26" name="Text 24"/>
          <p:cNvSpPr/>
          <p:nvPr/>
        </p:nvSpPr>
        <p:spPr>
          <a:xfrm>
            <a:off x="3670300" y="3465195"/>
            <a:ext cx="22368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Шаблон опроса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70300" y="3803016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категория, готовые варианты, тип ответа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3239136"/>
            <a:ext cx="2527300" cy="117475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172200" y="3239136"/>
            <a:ext cx="2527300" cy="1174750"/>
          </a:xfrm>
          <a:custGeom>
            <a:avLst/>
            <a:gdLst/>
            <a:ahLst/>
            <a:cxnLst/>
            <a:rect l="l" t="t" r="r" b="b"/>
            <a:pathLst>
              <a:path w="2527300" h="117475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2374900" y="0"/>
                </a:lnTo>
                <a:arcTo hR="152400" wR="152400" stAng="16200000" swAng="5400000"/>
                <a:lnTo>
                  <a:pt x="2527300" y="152400"/>
                </a:lnTo>
                <a:arcTo hR="88900" wR="152400" stAng="0" swAng="-5400000"/>
                <a:lnTo>
                  <a:pt x="152400" y="63500"/>
                </a:lnTo>
                <a:arcTo hR="88900" wR="152400" stAng="16200000" swAng="-5400000"/>
                <a:close/>
              </a:path>
            </a:pathLst>
          </a:custGeom>
          <a:solidFill>
            <a:srgbClr val="2BC48A"/>
          </a:solidFill>
          <a:ln/>
        </p:spPr>
      </p:sp>
      <p:sp>
        <p:nvSpPr>
          <p:cNvPr id="30" name="Text 28"/>
          <p:cNvSpPr/>
          <p:nvPr/>
        </p:nvSpPr>
        <p:spPr>
          <a:xfrm>
            <a:off x="6350000" y="3465195"/>
            <a:ext cx="22368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Ответ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50000" y="3803016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кто, на какой пин, выбранный вариант, время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51900" y="3239136"/>
            <a:ext cx="2527300" cy="1174750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851900" y="3239136"/>
            <a:ext cx="2527300" cy="1174750"/>
          </a:xfrm>
          <a:custGeom>
            <a:avLst/>
            <a:gdLst/>
            <a:ahLst/>
            <a:cxnLst/>
            <a:rect l="l" t="t" r="r" b="b"/>
            <a:pathLst>
              <a:path w="2527300" h="117475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2374900" y="0"/>
                </a:lnTo>
                <a:arcTo hR="152400" wR="152400" stAng="16200000" swAng="5400000"/>
                <a:lnTo>
                  <a:pt x="2527300" y="152400"/>
                </a:lnTo>
                <a:arcTo hR="88900" wR="152400" stAng="0" swAng="-5400000"/>
                <a:lnTo>
                  <a:pt x="152400" y="63500"/>
                </a:lnTo>
                <a:arcTo hR="88900" wR="152400" stAng="16200000" swAng="-5400000"/>
                <a:close/>
              </a:path>
            </a:pathLst>
          </a:custGeom>
          <a:solidFill>
            <a:srgbClr val="2BC48A"/>
          </a:solidFill>
          <a:ln/>
        </p:spPr>
      </p:sp>
      <p:sp>
        <p:nvSpPr>
          <p:cNvPr id="34" name="Text 32"/>
          <p:cNvSpPr/>
          <p:nvPr/>
        </p:nvSpPr>
        <p:spPr>
          <a:xfrm>
            <a:off x="9029700" y="3465195"/>
            <a:ext cx="22368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Сводка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029700" y="3803016"/>
            <a:ext cx="223685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решённое, открытое, что нужно от вас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2800" y="4617086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Ещё три: Приглашение, Уведомление, Друг. У пина пять типов: Место, Время, Опрос, Чек-лист, Итоги.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2800" y="62890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0" y="62890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СВЯЗИ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0921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Всё, что про встречу, живёт внутри сбора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5500" y="1701800"/>
            <a:ext cx="10541000" cy="1682750"/>
          </a:xfrm>
          <a:prstGeom prst="roundRect">
            <a:avLst>
              <a:gd name="adj" fmla="val 12830"/>
            </a:avLst>
          </a:prstGeom>
          <a:solidFill>
            <a:srgbClr val="FFFFFF"/>
          </a:solidFill>
          <a:ln w="25400">
            <a:solidFill>
              <a:srgbClr val="1F2A4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66800" y="1892300"/>
            <a:ext cx="1036015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СБОР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66800" y="2352039"/>
            <a:ext cx="2419350" cy="791210"/>
          </a:xfrm>
          <a:prstGeom prst="roundRect">
            <a:avLst>
              <a:gd name="adj" fmla="val 16051"/>
            </a:avLst>
          </a:prstGeom>
          <a:solidFill>
            <a:srgbClr val="E8F0FB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491739"/>
            <a:ext cx="217798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💬 Сообщения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19200" y="2788921"/>
            <a:ext cx="217798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текст, фото, голос, кружки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13150" y="2352039"/>
            <a:ext cx="2419350" cy="791210"/>
          </a:xfrm>
          <a:prstGeom prst="roundRect">
            <a:avLst>
              <a:gd name="adj" fmla="val 16051"/>
            </a:avLst>
          </a:prstGeom>
          <a:solidFill>
            <a:srgbClr val="FFF1CC"/>
          </a:solidFill>
          <a:ln/>
        </p:spPr>
      </p:sp>
      <p:sp>
        <p:nvSpPr>
          <p:cNvPr id="10" name="Text 8"/>
          <p:cNvSpPr/>
          <p:nvPr/>
        </p:nvSpPr>
        <p:spPr>
          <a:xfrm>
            <a:off x="3765550" y="2491739"/>
            <a:ext cx="217798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📌 Пины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65550" y="2788921"/>
            <a:ext cx="217798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а внутри пинов — ответы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59500" y="2352039"/>
            <a:ext cx="2419350" cy="791210"/>
          </a:xfrm>
          <a:prstGeom prst="roundRect">
            <a:avLst>
              <a:gd name="adj" fmla="val 16051"/>
            </a:avLst>
          </a:prstGeom>
          <a:solidFill>
            <a:srgbClr val="EFEAFB"/>
          </a:solidFill>
          <a:ln/>
        </p:spPr>
      </p:sp>
      <p:sp>
        <p:nvSpPr>
          <p:cNvPr id="13" name="Text 11"/>
          <p:cNvSpPr/>
          <p:nvPr/>
        </p:nvSpPr>
        <p:spPr>
          <a:xfrm>
            <a:off x="6311900" y="2491739"/>
            <a:ext cx="217798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🙌 Участники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11900" y="2788921"/>
            <a:ext cx="217798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роль и статус каждого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05850" y="2352039"/>
            <a:ext cx="2419350" cy="791210"/>
          </a:xfrm>
          <a:prstGeom prst="roundRect">
            <a:avLst>
              <a:gd name="adj" fmla="val 16051"/>
            </a:avLst>
          </a:prstGeom>
          <a:solidFill>
            <a:srgbClr val="E3F7EE"/>
          </a:solidFill>
          <a:ln/>
        </p:spPr>
      </p:sp>
      <p:sp>
        <p:nvSpPr>
          <p:cNvPr id="16" name="Text 14"/>
          <p:cNvSpPr/>
          <p:nvPr/>
        </p:nvSpPr>
        <p:spPr>
          <a:xfrm>
            <a:off x="8858250" y="2491739"/>
            <a:ext cx="217798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✉️ Приглашения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58250" y="2788921"/>
            <a:ext cx="217798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 ссылке или из друзей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4550" y="3600450"/>
            <a:ext cx="0" cy="803910"/>
          </a:xfrm>
          <a:prstGeom prst="line">
            <a:avLst/>
          </a:prstGeom>
          <a:noFill/>
          <a:ln w="63500">
            <a:solidFill>
              <a:srgbClr val="8E5B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6160" y="3638550"/>
            <a:ext cx="330336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Пользователь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6160" y="3920489"/>
            <a:ext cx="330336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связан со сбором только через «Участника»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17457" y="3600450"/>
            <a:ext cx="0" cy="803910"/>
          </a:xfrm>
          <a:prstGeom prst="line">
            <a:avLst/>
          </a:prstGeom>
          <a:noFill/>
          <a:ln w="63500">
            <a:solidFill>
              <a:srgbClr val="2B7F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067" y="3638550"/>
            <a:ext cx="330336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Сообщение ↔ Пин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9067" y="3920489"/>
            <a:ext cx="330336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пин рождается из сообщения и ссылается на него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90364" y="3600450"/>
            <a:ext cx="0" cy="803910"/>
          </a:xfrm>
          <a:prstGeom prst="line">
            <a:avLst/>
          </a:prstGeom>
          <a:noFill/>
          <a:ln w="63500">
            <a:solidFill>
              <a:srgbClr val="2BC4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1974" y="3638550"/>
            <a:ext cx="330336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Шаблон опроса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71974" y="3920489"/>
            <a:ext cx="330336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один на всех, из него создаётся пин «Опрос»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890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2890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0921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такое «группа»: три варианта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689100"/>
            <a:ext cx="3403600" cy="2207260"/>
          </a:xfrm>
          <a:prstGeom prst="roundRect">
            <a:avLst>
              <a:gd name="adj" fmla="val 805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89100"/>
            <a:ext cx="3403600" cy="2207260"/>
          </a:xfrm>
          <a:custGeom>
            <a:avLst/>
            <a:gdLst/>
            <a:ahLst/>
            <a:cxnLst/>
            <a:rect l="l" t="t" r="r" b="b"/>
            <a:pathLst>
              <a:path w="3403600" h="2207260">
                <a:moveTo>
                  <a:pt x="0" y="177800"/>
                </a:moveTo>
                <a:lnTo>
                  <a:pt x="0" y="177800"/>
                </a:lnTo>
                <a:arcTo hR="177800" wR="177800" stAng="10800000" swAng="5400000"/>
                <a:lnTo>
                  <a:pt x="3225800" y="0"/>
                </a:lnTo>
                <a:arcTo hR="177800" wR="177800" stAng="16200000" swAng="5400000"/>
                <a:lnTo>
                  <a:pt x="3403600" y="177800"/>
                </a:lnTo>
                <a:arcTo hR="101600" wR="177800" stAng="0" swAng="-5400000"/>
                <a:lnTo>
                  <a:pt x="177800" y="76200"/>
                </a:lnTo>
                <a:arcTo hR="101600" wR="177800" stAng="16200000" swAng="-5400000"/>
                <a:close/>
              </a:path>
            </a:pathLst>
          </a:custGeom>
          <a:solidFill>
            <a:srgbClr val="B9BDC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68500"/>
            <a:ext cx="30871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ВАРИАНТ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6000" y="2288539"/>
            <a:ext cx="3200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Группа — одна встреча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669539"/>
            <a:ext cx="308711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Просто, но компания каждый раз создаёт чат заново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4200" y="1689100"/>
            <a:ext cx="3403600" cy="2207260"/>
          </a:xfrm>
          <a:prstGeom prst="roundRect">
            <a:avLst>
              <a:gd name="adj" fmla="val 805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94200" y="1689100"/>
            <a:ext cx="3403600" cy="2207260"/>
          </a:xfrm>
          <a:custGeom>
            <a:avLst/>
            <a:gdLst/>
            <a:ahLst/>
            <a:cxnLst/>
            <a:rect l="l" t="t" r="r" b="b"/>
            <a:pathLst>
              <a:path w="3403600" h="2207260">
                <a:moveTo>
                  <a:pt x="0" y="177800"/>
                </a:moveTo>
                <a:lnTo>
                  <a:pt x="0" y="177800"/>
                </a:lnTo>
                <a:arcTo hR="177800" wR="177800" stAng="10800000" swAng="5400000"/>
                <a:lnTo>
                  <a:pt x="3225800" y="0"/>
                </a:lnTo>
                <a:arcTo hR="177800" wR="177800" stAng="16200000" swAng="5400000"/>
                <a:lnTo>
                  <a:pt x="3403600" y="177800"/>
                </a:lnTo>
                <a:arcTo hR="101600" wR="177800" stAng="0" swAng="-5400000"/>
                <a:lnTo>
                  <a:pt x="177800" y="76200"/>
                </a:lnTo>
                <a:arcTo hR="101600" wR="177800" stAng="16200000" swAng="-5400000"/>
                <a:close/>
              </a:path>
            </a:pathLst>
          </a:custGeom>
          <a:solidFill>
            <a:srgbClr val="B9BDCB"/>
          </a:solidFill>
          <a:ln/>
        </p:spPr>
      </p:sp>
      <p:sp>
        <p:nvSpPr>
          <p:cNvPr id="11" name="Text 9"/>
          <p:cNvSpPr/>
          <p:nvPr/>
        </p:nvSpPr>
        <p:spPr>
          <a:xfrm>
            <a:off x="4597400" y="1968500"/>
            <a:ext cx="30871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5B60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ВАРИАНТ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7400" y="2288539"/>
            <a:ext cx="30871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Группа — компания, встречи внутри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7400" y="2961639"/>
            <a:ext cx="308711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Удобно постоянным друзьям, но лишний уровень вложенности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1475" y="1704975"/>
            <a:ext cx="3371850" cy="2175510"/>
          </a:xfrm>
          <a:prstGeom prst="roundRect">
            <a:avLst>
              <a:gd name="adj" fmla="val 7443"/>
            </a:avLst>
          </a:prstGeom>
          <a:solidFill>
            <a:srgbClr val="FFF1CC"/>
          </a:solidFill>
          <a:ln w="31750">
            <a:solidFill>
              <a:srgbClr val="FFC9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9280" y="1922782"/>
            <a:ext cx="30243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8A4B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ВАРИАНТ C · ВЫБРАН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09280" y="2242821"/>
            <a:ext cx="302432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Гибрид: одна встреча + «Повторить сбор»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09280" y="2915921"/>
            <a:ext cx="302432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Простота A и удобство B без нового уровня: участники и пины копируются в новый сбор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4099561"/>
            <a:ext cx="10566400" cy="596900"/>
          </a:xfrm>
          <a:prstGeom prst="roundRect">
            <a:avLst>
              <a:gd name="adj" fmla="val 29787"/>
            </a:avLst>
          </a:prstGeom>
          <a:solidFill>
            <a:srgbClr val="1F2A44"/>
          </a:solidFill>
          <a:ln/>
        </p:spPr>
        <p:txBody>
          <a:bodyPr wrap="square" lIns="176524" tIns="113024" rIns="0" bIns="87624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Структура остаётся плоской, а постоянные компании не создают всё заново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890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890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C9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НАВИГАЦИЯ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36321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FF8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Четыре раздела — и ничего лишнего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2527300" cy="2136140"/>
          </a:xfrm>
          <a:prstGeom prst="roundRect">
            <a:avLst>
              <a:gd name="adj" fmla="val 8323"/>
            </a:avLst>
          </a:prstGeom>
          <a:solidFill>
            <a:srgbClr val="FFF8E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39900"/>
            <a:ext cx="2527300" cy="2136140"/>
          </a:xfrm>
          <a:custGeom>
            <a:avLst/>
            <a:gdLst/>
            <a:ahLst/>
            <a:cxnLst/>
            <a:rect l="l" t="t" r="r" b="b"/>
            <a:pathLst>
              <a:path w="2527300" h="2136140">
                <a:moveTo>
                  <a:pt x="0" y="177800"/>
                </a:moveTo>
                <a:lnTo>
                  <a:pt x="0" y="177800"/>
                </a:lnTo>
                <a:arcTo hR="177800" wR="177800" stAng="10800000" swAng="5400000"/>
                <a:lnTo>
                  <a:pt x="2349500" y="0"/>
                </a:lnTo>
                <a:arcTo hR="177800" wR="177800" stAng="16200000" swAng="5400000"/>
                <a:lnTo>
                  <a:pt x="2527300" y="177800"/>
                </a:lnTo>
                <a:arcTo hR="88900" wR="177800" stAng="0" swAng="-5400000"/>
                <a:lnTo>
                  <a:pt x="177800" y="88900"/>
                </a:lnTo>
                <a:arcTo hR="88900" wR="177800" stAng="16200000" swAng="-5400000"/>
                <a:close/>
              </a:path>
            </a:pathLst>
          </a:cu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16761"/>
            <a:ext cx="223685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🏠 Главное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90600" y="2440939"/>
            <a:ext cx="22368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делать прямо сейчас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600" y="2992121"/>
            <a:ext cx="223685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Ближайшая встреча, «Требуется от вас», уведомления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2500" y="1739900"/>
            <a:ext cx="2527300" cy="2136140"/>
          </a:xfrm>
          <a:prstGeom prst="roundRect">
            <a:avLst>
              <a:gd name="adj" fmla="val 8323"/>
            </a:avLst>
          </a:prstGeom>
          <a:solidFill>
            <a:srgbClr val="FFF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492500" y="1739900"/>
            <a:ext cx="2527300" cy="2136140"/>
          </a:xfrm>
          <a:custGeom>
            <a:avLst/>
            <a:gdLst/>
            <a:ahLst/>
            <a:cxnLst/>
            <a:rect l="l" t="t" r="r" b="b"/>
            <a:pathLst>
              <a:path w="2527300" h="2136140">
                <a:moveTo>
                  <a:pt x="0" y="177800"/>
                </a:moveTo>
                <a:lnTo>
                  <a:pt x="0" y="177800"/>
                </a:lnTo>
                <a:arcTo hR="177800" wR="177800" stAng="10800000" swAng="5400000"/>
                <a:lnTo>
                  <a:pt x="2349500" y="0"/>
                </a:lnTo>
                <a:arcTo hR="177800" wR="177800" stAng="16200000" swAng="5400000"/>
                <a:lnTo>
                  <a:pt x="2527300" y="177800"/>
                </a:lnTo>
                <a:arcTo hR="88900" wR="177800" stAng="0" swAng="-5400000"/>
                <a:lnTo>
                  <a:pt x="177800" y="88900"/>
                </a:lnTo>
                <a:arcTo hR="88900" wR="177800" stAng="16200000" swAng="-5400000"/>
                <a:close/>
              </a:path>
            </a:pathLst>
          </a:custGeom>
          <a:solidFill>
            <a:srgbClr val="2B7FD9"/>
          </a:solidFill>
          <a:ln/>
        </p:spPr>
      </p:sp>
      <p:sp>
        <p:nvSpPr>
          <p:cNvPr id="11" name="Text 9"/>
          <p:cNvSpPr/>
          <p:nvPr/>
        </p:nvSpPr>
        <p:spPr>
          <a:xfrm>
            <a:off x="3670300" y="2016761"/>
            <a:ext cx="223685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🗂️ Сборы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70300" y="2440939"/>
            <a:ext cx="22368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Найти, создать, повторить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0300" y="2992121"/>
            <a:ext cx="22368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Список сборов, создание, «Повторить сбор»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739900"/>
            <a:ext cx="2527300" cy="2136140"/>
          </a:xfrm>
          <a:prstGeom prst="roundRect">
            <a:avLst>
              <a:gd name="adj" fmla="val 8323"/>
            </a:avLst>
          </a:prstGeom>
          <a:solidFill>
            <a:srgbClr val="FFF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739900"/>
            <a:ext cx="2527300" cy="2136140"/>
          </a:xfrm>
          <a:custGeom>
            <a:avLst/>
            <a:gdLst/>
            <a:ahLst/>
            <a:cxnLst/>
            <a:rect l="l" t="t" r="r" b="b"/>
            <a:pathLst>
              <a:path w="2527300" h="2136140">
                <a:moveTo>
                  <a:pt x="0" y="177800"/>
                </a:moveTo>
                <a:lnTo>
                  <a:pt x="0" y="177800"/>
                </a:lnTo>
                <a:arcTo hR="177800" wR="177800" stAng="10800000" swAng="5400000"/>
                <a:lnTo>
                  <a:pt x="2349500" y="0"/>
                </a:lnTo>
                <a:arcTo hR="177800" wR="177800" stAng="16200000" swAng="5400000"/>
                <a:lnTo>
                  <a:pt x="2527300" y="177800"/>
                </a:lnTo>
                <a:arcTo hR="88900" wR="177800" stAng="0" swAng="-5400000"/>
                <a:lnTo>
                  <a:pt x="177800" y="88900"/>
                </a:lnTo>
                <a:arcTo hR="88900" wR="177800" stAng="16200000" swAng="-5400000"/>
                <a:close/>
              </a:path>
            </a:pathLst>
          </a:custGeom>
          <a:solidFill>
            <a:srgbClr val="2BC48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0000" y="2016761"/>
            <a:ext cx="223685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👥 Друзья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0000" y="2440939"/>
            <a:ext cx="22368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Быстро собрать компанию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0000" y="2992121"/>
            <a:ext cx="223685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Список друзей, группы друзей, найти и позвать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51900" y="1739900"/>
            <a:ext cx="2527300" cy="2136140"/>
          </a:xfrm>
          <a:prstGeom prst="roundRect">
            <a:avLst>
              <a:gd name="adj" fmla="val 8323"/>
            </a:avLst>
          </a:prstGeom>
          <a:solidFill>
            <a:srgbClr val="FF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851900" y="1739900"/>
            <a:ext cx="2527300" cy="2136140"/>
          </a:xfrm>
          <a:custGeom>
            <a:avLst/>
            <a:gdLst/>
            <a:ahLst/>
            <a:cxnLst/>
            <a:rect l="l" t="t" r="r" b="b"/>
            <a:pathLst>
              <a:path w="2527300" h="2136140">
                <a:moveTo>
                  <a:pt x="0" y="177800"/>
                </a:moveTo>
                <a:lnTo>
                  <a:pt x="0" y="177800"/>
                </a:lnTo>
                <a:arcTo hR="177800" wR="177800" stAng="10800000" swAng="5400000"/>
                <a:lnTo>
                  <a:pt x="2349500" y="0"/>
                </a:lnTo>
                <a:arcTo hR="177800" wR="177800" stAng="16200000" swAng="5400000"/>
                <a:lnTo>
                  <a:pt x="2527300" y="177800"/>
                </a:lnTo>
                <a:arcTo hR="88900" wR="177800" stAng="0" swAng="-5400000"/>
                <a:lnTo>
                  <a:pt x="177800" y="88900"/>
                </a:lnTo>
                <a:arcTo hR="88900" wR="177800" stAng="16200000" swAng="-5400000"/>
                <a:close/>
              </a:path>
            </a:pathLst>
          </a:custGeom>
          <a:solidFill>
            <a:srgbClr val="8E5BD9"/>
          </a:solidFill>
          <a:ln/>
        </p:spPr>
      </p:sp>
      <p:sp>
        <p:nvSpPr>
          <p:cNvPr id="21" name="Text 19"/>
          <p:cNvSpPr/>
          <p:nvPr/>
        </p:nvSpPr>
        <p:spPr>
          <a:xfrm>
            <a:off x="9029700" y="2016761"/>
            <a:ext cx="223685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🙂 Профиль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29700" y="244093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Настроить себя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29700" y="2760982"/>
            <a:ext cx="223685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Данные профиля, настройки уведомлений, помощь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104639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8DCE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Выбран вариант с «Главным»: он сразу показывает, что нужно от человека, и бьёт по главной боли — потерянному контексту.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890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890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ВНУТРИ СБОРА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0921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Пять разделов, и чат — лишь один из них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689100"/>
            <a:ext cx="2011680" cy="181864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89100"/>
            <a:ext cx="2011680" cy="1818640"/>
          </a:xfrm>
          <a:custGeom>
            <a:avLst/>
            <a:gdLst/>
            <a:ahLst/>
            <a:cxnLst/>
            <a:rect l="l" t="t" r="r" b="b"/>
            <a:pathLst>
              <a:path w="2011680" h="181864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59280" y="0"/>
                </a:lnTo>
                <a:arcTo hR="152400" wR="152400" stAng="16200000" swAng="5400000"/>
                <a:lnTo>
                  <a:pt x="2011680" y="152400"/>
                </a:lnTo>
                <a:arcTo hR="76200" wR="152400" stAng="0" swAng="-5400000"/>
                <a:lnTo>
                  <a:pt x="152400" y="76200"/>
                </a:lnTo>
                <a:arcTo hR="76200" wR="152400" stAng="16200000" swAng="-5400000"/>
                <a:close/>
              </a:path>
            </a:pathLst>
          </a:cu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930400"/>
            <a:ext cx="175808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Главное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5200" y="2252982"/>
            <a:ext cx="175808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я пропустил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решено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Открытые вопросы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51480" y="1689100"/>
            <a:ext cx="2011680" cy="181864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951480" y="1689100"/>
            <a:ext cx="2011680" cy="1818640"/>
          </a:xfrm>
          <a:custGeom>
            <a:avLst/>
            <a:gdLst/>
            <a:ahLst/>
            <a:cxnLst/>
            <a:rect l="l" t="t" r="r" b="b"/>
            <a:pathLst>
              <a:path w="2011680" h="181864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59280" y="0"/>
                </a:lnTo>
                <a:arcTo hR="152400" wR="152400" stAng="16200000" swAng="5400000"/>
                <a:lnTo>
                  <a:pt x="2011680" y="152400"/>
                </a:lnTo>
                <a:arcTo hR="76200" wR="152400" stAng="0" swAng="-5400000"/>
                <a:lnTo>
                  <a:pt x="152400" y="76200"/>
                </a:lnTo>
                <a:arcTo hR="76200" wR="152400" stAng="16200000" swAng="-5400000"/>
                <a:close/>
              </a:path>
            </a:pathLst>
          </a:custGeom>
          <a:solidFill>
            <a:srgbClr val="2B7FD9"/>
          </a:solidFill>
          <a:ln/>
        </p:spPr>
      </p:sp>
      <p:sp>
        <p:nvSpPr>
          <p:cNvPr id="10" name="Text 8"/>
          <p:cNvSpPr/>
          <p:nvPr/>
        </p:nvSpPr>
        <p:spPr>
          <a:xfrm>
            <a:off x="3103880" y="1930400"/>
            <a:ext cx="175808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Чат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03880" y="2252982"/>
            <a:ext cx="175808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Сообщения, голос и кружки, создать пин из сообщения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6035" y="1704975"/>
            <a:ext cx="1979930" cy="1786890"/>
          </a:xfrm>
          <a:prstGeom prst="roundRect">
            <a:avLst>
              <a:gd name="adj" fmla="val 7640"/>
            </a:avLst>
          </a:prstGeom>
          <a:solidFill>
            <a:srgbClr val="FFF1CC"/>
          </a:solidFill>
          <a:ln w="31750">
            <a:solidFill>
              <a:srgbClr val="FFC9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7640" y="1859282"/>
            <a:ext cx="174762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Закреплённое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47640" y="2181861"/>
            <a:ext cx="174762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Место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Время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Опрос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Чек-лист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B42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правок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8840" y="1689100"/>
            <a:ext cx="2011680" cy="181864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8840" y="1689100"/>
            <a:ext cx="2011680" cy="1818640"/>
          </a:xfrm>
          <a:custGeom>
            <a:avLst/>
            <a:gdLst/>
            <a:ahLst/>
            <a:cxnLst/>
            <a:rect l="l" t="t" r="r" b="b"/>
            <a:pathLst>
              <a:path w="2011680" h="181864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59280" y="0"/>
                </a:lnTo>
                <a:arcTo hR="152400" wR="152400" stAng="16200000" swAng="5400000"/>
                <a:lnTo>
                  <a:pt x="2011680" y="152400"/>
                </a:lnTo>
                <a:arcTo hR="76200" wR="152400" stAng="0" swAng="-5400000"/>
                <a:lnTo>
                  <a:pt x="152400" y="76200"/>
                </a:lnTo>
                <a:arcTo hR="76200" wR="152400" stAng="16200000" swAng="-5400000"/>
                <a:close/>
              </a:path>
            </a:pathLst>
          </a:custGeom>
          <a:solidFill>
            <a:srgbClr val="2BC48A"/>
          </a:solidFill>
          <a:ln/>
        </p:spPr>
      </p:sp>
      <p:sp>
        <p:nvSpPr>
          <p:cNvPr id="17" name="Text 15"/>
          <p:cNvSpPr/>
          <p:nvPr/>
        </p:nvSpPr>
        <p:spPr>
          <a:xfrm>
            <a:off x="7381240" y="1930400"/>
            <a:ext cx="175808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Итоги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81240" y="2252982"/>
            <a:ext cx="175808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Фото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Файлы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Итоговый текст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67520" y="1689100"/>
            <a:ext cx="2011680" cy="181864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67520" y="1689100"/>
            <a:ext cx="2011680" cy="1818640"/>
          </a:xfrm>
          <a:custGeom>
            <a:avLst/>
            <a:gdLst/>
            <a:ahLst/>
            <a:cxnLst/>
            <a:rect l="l" t="t" r="r" b="b"/>
            <a:pathLst>
              <a:path w="2011680" h="1818640">
                <a:moveTo>
                  <a:pt x="0" y="152400"/>
                </a:moveTo>
                <a:lnTo>
                  <a:pt x="0" y="152400"/>
                </a:lnTo>
                <a:arcTo hR="152400" wR="152400" stAng="10800000" swAng="5400000"/>
                <a:lnTo>
                  <a:pt x="1859280" y="0"/>
                </a:lnTo>
                <a:arcTo hR="152400" wR="152400" stAng="16200000" swAng="5400000"/>
                <a:lnTo>
                  <a:pt x="2011680" y="152400"/>
                </a:lnTo>
                <a:arcTo hR="76200" wR="152400" stAng="0" swAng="-5400000"/>
                <a:lnTo>
                  <a:pt x="152400" y="76200"/>
                </a:lnTo>
                <a:arcTo hR="76200" wR="152400" stAng="16200000" swAng="-5400000"/>
                <a:close/>
              </a:path>
            </a:pathLst>
          </a:custGeom>
          <a:solidFill>
            <a:srgbClr val="8E5BD9"/>
          </a:solidFill>
          <a:ln/>
        </p:spPr>
      </p:sp>
      <p:sp>
        <p:nvSpPr>
          <p:cNvPr id="21" name="Text 19"/>
          <p:cNvSpPr/>
          <p:nvPr/>
        </p:nvSpPr>
        <p:spPr>
          <a:xfrm>
            <a:off x="9519920" y="1930400"/>
            <a:ext cx="175808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Участники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519920" y="2252982"/>
            <a:ext cx="17580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Список и статусы, приглашение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3710939"/>
            <a:ext cx="10566400" cy="596900"/>
          </a:xfrm>
          <a:prstGeom prst="roundRect">
            <a:avLst>
              <a:gd name="adj" fmla="val 29787"/>
            </a:avLst>
          </a:prstGeom>
          <a:solidFill>
            <a:srgbClr val="1F2A44"/>
          </a:solidFill>
          <a:ln/>
        </p:spPr>
        <p:txBody>
          <a:bodyPr wrap="square" lIns="176524" tIns="113024" rIns="0" bIns="87624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 умолчанию открывается «Главное», а не чат: человек сразу видит суть, а не поток сообщений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890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1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Экран «Что я пропустил»: решено место, время и еда, от Ани нужно взять хлеб">    </p:cNvPr>
          <p:cNvPicPr>
            <a:picLocks noChangeAspect="1"/>
          </p:cNvPicPr>
          <p:nvPr/>
        </p:nvPicPr>
        <p:blipFill>
          <a:blip r:embed="rId1"/>
          <a:srcRect l="0" r="0" t="-25" b="-25"/>
          <a:stretch/>
        </p:blipFill>
        <p:spPr>
          <a:xfrm>
            <a:off x="6413500" y="609600"/>
            <a:ext cx="2349500" cy="4813300"/>
          </a:xfrm>
          <a:prstGeom prst="rect">
            <a:avLst/>
          </a:prstGeom>
        </p:spPr>
      </p:pic>
      <p:pic>
        <p:nvPicPr>
          <p:cNvPr id="3" name="Image 1" descr="Закреплённый быстрый опрос «Что берём из еды?» с результатами голосования">    </p:cNvPr>
          <p:cNvPicPr>
            <a:picLocks noChangeAspect="1"/>
          </p:cNvPicPr>
          <p:nvPr/>
        </p:nvPicPr>
        <p:blipFill>
          <a:blip r:embed="rId2"/>
          <a:srcRect l="0" r="0" t="-29" b="-29"/>
          <a:stretch/>
        </p:blipFill>
        <p:spPr>
          <a:xfrm>
            <a:off x="8890000" y="1651000"/>
            <a:ext cx="2489200" cy="3676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558800"/>
            <a:ext cx="5363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ГРУППОВЫЕ ФИШКИ</a:t>
            </a:r>
            <a:endParaRPr lang="en-US" sz="14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1010921"/>
            <a:ext cx="5363210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Опоздал — и сразу в курсе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12800" y="2108200"/>
            <a:ext cx="5207000" cy="1219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028700" y="2298700"/>
            <a:ext cx="491845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👋 Что я пропустил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028700" y="2639064"/>
            <a:ext cx="491845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Решено 3 из 5, от вас — взять хлеб. Ни одного сообщения читать не нужно.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12800" y="3530600"/>
            <a:ext cx="5207000" cy="1219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1028700" y="3721100"/>
            <a:ext cx="4918456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📊 Быстрый опрос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28700" y="4061464"/>
            <a:ext cx="491845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Готовый шаблон по теме: еда, место, время, подарок. Срок вышел — итог закрепляется сам.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8904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939957" y="355600"/>
            <a:ext cx="831208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F8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Схема информационной архитектуры</a:t>
            </a:r>
            <a:endParaRPr lang="en-US" sz="2800" dirty="0"/>
          </a:p>
        </p:txBody>
      </p:sp>
      <p:pic>
        <p:nvPicPr>
          <p:cNvPr id="3" name="Image 0" descr="Блок-схема: корень «Сбор», четыре раздела (Главное, Сборы, Друзья, Профиль) и пять разделов внутри сбора (Главное, Чат, Закреплённое, Итоги, Участники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4500" y="899164"/>
            <a:ext cx="8763000" cy="5111750"/>
          </a:xfrm>
          <a:prstGeom prst="roundRect">
            <a:avLst>
              <a:gd name="adj" fmla="val 3478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63906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3906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УЛУЧШЕНИЯ ДЛЯ ГРУПП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0921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Шесть в MVP, три — позже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689100"/>
            <a:ext cx="6233160" cy="2647950"/>
          </a:xfrm>
          <a:prstGeom prst="roundRect">
            <a:avLst>
              <a:gd name="adj" fmla="val 671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689100"/>
            <a:ext cx="6233160" cy="2647950"/>
          </a:xfrm>
          <a:custGeom>
            <a:avLst/>
            <a:gdLst/>
            <a:ahLst/>
            <a:cxnLst/>
            <a:rect l="l" t="t" r="r" b="b"/>
            <a:pathLst>
              <a:path w="6233160" h="2647950">
                <a:moveTo>
                  <a:pt x="0" y="177800"/>
                </a:moveTo>
                <a:lnTo>
                  <a:pt x="0" y="177800"/>
                </a:lnTo>
                <a:arcTo hR="177800" wR="177800" stAng="10800000" swAng="5400000"/>
                <a:lnTo>
                  <a:pt x="6055360" y="0"/>
                </a:lnTo>
                <a:arcTo hR="177800" wR="177800" stAng="16200000" swAng="5400000"/>
                <a:lnTo>
                  <a:pt x="6233160" y="177800"/>
                </a:lnTo>
                <a:arcTo hR="88900" wR="177800" stAng="0" swAng="-5400000"/>
                <a:lnTo>
                  <a:pt x="177800" y="88900"/>
                </a:lnTo>
                <a:arcTo hR="88900" wR="177800" stAng="16200000" swAng="-5400000"/>
                <a:close/>
              </a:path>
            </a:pathLst>
          </a:custGeom>
          <a:solidFill>
            <a:srgbClr val="2BC48A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965964"/>
            <a:ext cx="594923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 MVP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1400" y="2374900"/>
            <a:ext cx="5949239" cy="179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Что я пропустил — сводка для опоздавшего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Что решено — шкала «3 из 5»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3. Открытые вопросы лично для вас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4. Срок опроса: итог фиксируется сам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 Равные права и история правок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6. Кто что берёт — пункт за человеком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23760" y="1689100"/>
            <a:ext cx="4155440" cy="2647950"/>
          </a:xfrm>
          <a:prstGeom prst="roundRect">
            <a:avLst>
              <a:gd name="adj" fmla="val 6715"/>
            </a:avLst>
          </a:prstGeom>
          <a:solidFill>
            <a:srgbClr val="EFEAFB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1689100"/>
            <a:ext cx="4155440" cy="2647950"/>
          </a:xfrm>
          <a:custGeom>
            <a:avLst/>
            <a:gdLst/>
            <a:ahLst/>
            <a:cxnLst/>
            <a:rect l="l" t="t" r="r" b="b"/>
            <a:pathLst>
              <a:path w="4155440" h="2647950">
                <a:moveTo>
                  <a:pt x="0" y="177800"/>
                </a:moveTo>
                <a:lnTo>
                  <a:pt x="0" y="177800"/>
                </a:lnTo>
                <a:arcTo hR="177800" wR="177800" stAng="10800000" swAng="5400000"/>
                <a:lnTo>
                  <a:pt x="3977640" y="0"/>
                </a:lnTo>
                <a:arcTo hR="177800" wR="177800" stAng="16200000" swAng="5400000"/>
                <a:lnTo>
                  <a:pt x="4155440" y="177800"/>
                </a:lnTo>
                <a:arcTo hR="88900" wR="177800" stAng="0" swAng="-5400000"/>
                <a:lnTo>
                  <a:pt x="177800" y="88900"/>
                </a:lnTo>
                <a:arcTo hR="88900" wR="177800" stAng="16200000" swAng="-5400000"/>
                <a:close/>
              </a:path>
            </a:pathLst>
          </a:custGeom>
          <a:solidFill>
            <a:srgbClr val="8E5BD9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1965964"/>
            <a:ext cx="380918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Позже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52360" y="2374900"/>
            <a:ext cx="3809187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Тред внутри пина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Умные напоминания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B355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Складчина и траты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890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C93A2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НАЗВАНИЯ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855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Понятны ли названия: запасные варианты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20524"/>
          <a:ext cx="10556240" cy="2684780"/>
        </p:xfrm>
        <a:graphic>
          <a:graphicData uri="http://schemas.openxmlformats.org/drawingml/2006/table">
            <a:tbl>
              <a:tblPr/>
              <a:tblGrid>
                <a:gridCol w="2111248"/>
                <a:gridCol w="2111248"/>
                <a:gridCol w="2111248"/>
                <a:gridCol w="4222496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Элемент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Название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Запасное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Риск непонимания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C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Раздел 1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Главное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Сейчас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Похоже на пустое приветствие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Раздел 2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Сборы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Встречи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«Сборы» — как «сборы в дорогу»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Раздел 3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Друзья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Компания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Для деловых встреч не подойдёт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Слой пинов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Закреплённое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Важное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Слово «пины» понятно не всем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Сводка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Что я пропустил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Кратко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Может звучать как упрёк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Шаблоны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Быстрый опрос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Шаблоны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Не ясно, что это готовые наборы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83100"/>
            <a:ext cx="10566400" cy="571500"/>
          </a:xfrm>
          <a:prstGeom prst="roundRect">
            <a:avLst>
              <a:gd name="adj" fmla="val 31111"/>
            </a:avLst>
          </a:prstGeom>
          <a:solidFill>
            <a:srgbClr val="1F2A44"/>
          </a:solidFill>
          <a:ln/>
        </p:spPr>
        <p:txBody>
          <a:bodyPr wrap="square" lIns="176524" tIns="100324" rIns="0" bIns="74924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Дальше: показать только названия 3–5 людям из аудитории и спросить «что внутри?»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890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F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Чат «Сбор» с закреплённым слоем">    </p:cNvPr>
          <p:cNvPicPr>
            <a:picLocks noChangeAspect="1"/>
          </p:cNvPicPr>
          <p:nvPr/>
        </p:nvPicPr>
        <p:blipFill>
          <a:blip r:embed="rId1"/>
          <a:srcRect l="0" r="0" t="14" b="14"/>
          <a:stretch/>
        </p:blipFill>
        <p:spPr>
          <a:xfrm rot="300000">
            <a:off x="8636000" y="889000"/>
            <a:ext cx="2159000" cy="4419600"/>
          </a:xfrm>
          <a:prstGeom prst="roundRect">
            <a:avLst>
              <a:gd name="adj" fmla="val 11176"/>
            </a:avLst>
          </a:prstGeom>
          <a:effectLst>
            <a:outerShdw sx="100000" sy="100000" kx="0" ky="0" algn="bl" rotWithShape="0" blurRad="381000" dist="190500" dir="5400000">
              <a:srgbClr val="000000">
                <a:alpha val="4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812800" y="1325563"/>
            <a:ext cx="719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C93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ИТОГ И ДАЛЬШЕ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828484"/>
            <a:ext cx="719455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FF8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Один чат — всё закреплено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3362641"/>
            <a:ext cx="6985000" cy="570865"/>
          </a:xfrm>
          <a:prstGeom prst="roundRect">
            <a:avLst>
              <a:gd name="adj" fmla="val 26696"/>
            </a:avLst>
          </a:prstGeom>
          <a:solidFill>
            <a:srgbClr val="2C3A5E"/>
          </a:solidFill>
          <a:ln/>
        </p:spPr>
        <p:txBody>
          <a:bodyPr wrap="square" lIns="158564" tIns="95064" rIns="0" bIns="69664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</a:t>
            </a:r>
            <a:r>
              <a:rPr lang="en-US" sz="1700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Проверить названия на 3–5 людях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2800" y="4060509"/>
            <a:ext cx="6985000" cy="570865"/>
          </a:xfrm>
          <a:prstGeom prst="roundRect">
            <a:avLst>
              <a:gd name="adj" fmla="val 26696"/>
            </a:avLst>
          </a:prstGeom>
          <a:solidFill>
            <a:srgbClr val="2C3A5E"/>
          </a:solidFill>
          <a:ln/>
        </p:spPr>
        <p:txBody>
          <a:bodyPr wrap="square" lIns="158564" tIns="95064" rIns="0" bIns="69664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</a:t>
            </a:r>
            <a:r>
              <a:rPr lang="en-US" sz="1700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Загрузить схему на Яндекс.Диск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12800" y="4758376"/>
            <a:ext cx="6985000" cy="570865"/>
          </a:xfrm>
          <a:prstGeom prst="roundRect">
            <a:avLst>
              <a:gd name="adj" fmla="val 26696"/>
            </a:avLst>
          </a:prstGeom>
          <a:solidFill>
            <a:srgbClr val="2C3A5E"/>
          </a:solidFill>
          <a:ln/>
        </p:spPr>
        <p:txBody>
          <a:bodyPr wrap="square" lIns="158564" tIns="95064" rIns="0" bIns="69664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3.</a:t>
            </a:r>
            <a:r>
              <a:rPr lang="en-US" sz="1700" dirty="0">
                <a:solidFill>
                  <a:srgbClr val="FFF8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Этап 4: нарисовать экраны по этой структуре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2800" y="62890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«Сбор» · Этап 3 · Информационная архитектура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890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F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бор · Информационная архитектура">
  <a:themeElements>
    <a:clrScheme name="Сбор · Информационная архитектура">
      <a:dk1>
        <a:srgbClr val="1F2A44"/>
      </a:dk1>
      <a:lt1>
        <a:srgbClr val="FFF8EE"/>
      </a:lt1>
      <a:dk2>
        <a:srgbClr val="575E6F"/>
      </a:dk2>
      <a:lt2>
        <a:srgbClr val="E9E3DD"/>
      </a:lt2>
      <a:accent1>
        <a:srgbClr val="C93A25"/>
      </a:accent1>
      <a:accent2>
        <a:srgbClr val="FFF1CC"/>
      </a:accent2>
      <a:accent3>
        <a:srgbClr val="FFC93C"/>
      </a:accent3>
      <a:accent4>
        <a:srgbClr val="2C3A5E"/>
      </a:accent4>
      <a:accent5>
        <a:srgbClr val="8A4B00"/>
      </a:accent5>
      <a:accent6>
        <a:srgbClr val="5B6072"/>
      </a:accent6>
      <a:hlink>
        <a:srgbClr val="0563C1"/>
      </a:hlink>
      <a:folHlink>
        <a:srgbClr val="954F72"/>
      </a:folHlink>
    </a:clrScheme>
    <a:fontScheme name="Сбор · Информационная архитектура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Сбор · Информационная архитектура</dc:title>
  <dc:subject/>
  <dc:creator/>
  <cp:lastModifiedBy/>
  <cp:revision>1</cp:revision>
  <dcterms:created xsi:type="dcterms:W3CDTF">2026-10-11T15:36:24Z</dcterms:created>
  <dcterms:modified xsi:type="dcterms:W3CDTF">2026-10-11T15:36:24Z</dcterms:modified>
</cp:coreProperties>
</file>