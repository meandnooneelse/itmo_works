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gI9WeXVX7WtJUp06ISG8oF6qC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c4f99386_0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d3c4f99386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3c4f99386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62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943600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144768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5943600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6144768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5943600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144768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345936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547104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345936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547104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345936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547104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748272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949440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748272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949440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748272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949440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150608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351776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150608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351776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150608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351776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7552944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7754112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552944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754112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552944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754112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7955280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8156448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7955280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8156448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7955280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8156448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8357616" y="16459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8558784" y="566928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357616" y="969264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8558784" y="1371600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8357616" y="1773936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8558784" y="2176272"/>
            <a:ext cx="82296" cy="82296"/>
          </a:xfrm>
          <a:prstGeom prst="ellipse">
            <a:avLst/>
          </a:prstGeom>
          <a:solidFill>
            <a:srgbClr val="00C8FF">
              <a:alpha val="34901"/>
            </a:srgbClr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0C8FF">
              <a:alpha val="10196"/>
            </a:srgbClr>
          </a:solidFill>
          <a:ln cap="flat" cmpd="sng" w="12700">
            <a:solidFill>
              <a:srgbClr val="00C8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411480" y="960120"/>
            <a:ext cx="64008" cy="283464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621792" y="868680"/>
            <a:ext cx="71323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Рои роботов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 децентрализованным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интеллектом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621792" y="3703320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От биологических моделей к техническим архитектурам и практическому применению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C8FF">
              <a:alpha val="18039"/>
            </a:srgbClr>
          </a:solidFill>
          <a:ln cap="flat" cmpd="sng" w="12700">
            <a:solidFill>
              <a:srgbClr val="00C8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457200" y="4736592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Ануфриев А.С.  ·  Бахуров Н.А.  ·  Татенко С.С.          					17 марта 2026 г.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Постановка проблемы и цели работы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20040" y="914400"/>
            <a:ext cx="3886200" cy="388620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20040" y="914400"/>
            <a:ext cx="3886200" cy="54864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02920" y="100584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Проблема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02920" y="1481328"/>
            <a:ext cx="356616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Централизованные системы: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Нагрузка на центр растёт экспоненциально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Отказ узла парализует всю систему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Природные системы: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Муравейники и стаи птиц координируют тысячи особей без центра управления — вдохновение для децентрализованных роёв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937760" y="914400"/>
            <a:ext cx="3886200" cy="388620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937760" y="914400"/>
            <a:ext cx="3886200" cy="54864"/>
          </a:xfrm>
          <a:prstGeom prst="rect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5120640" y="100584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Задачи работы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074920" y="1581912"/>
            <a:ext cx="256032" cy="256032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5074920" y="15819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440680" y="1412748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Анализ биологических прототипов и математических моделей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74920" y="2313432"/>
            <a:ext cx="256032" cy="256032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074920" y="23134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440680" y="2135124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Исследование технических архитектур и протоколов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074920" y="3044952"/>
            <a:ext cx="256032" cy="256032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5074920" y="30449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40680" y="2852928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Обзор практических применений и проблем реализации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074920" y="3776472"/>
            <a:ext cx="256032" cy="256032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5074920" y="37764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B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454396" y="35707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Направления дальнейших исследований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135" y="3241015"/>
            <a:ext cx="2324577" cy="1326946"/>
          </a:xfrm>
          <a:prstGeom prst="rect">
            <a:avLst/>
          </a:prstGeom>
          <a:noFill/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62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Биологические основы роевого интеллекта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74320" y="914400"/>
            <a:ext cx="2697480" cy="18288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74320" y="914400"/>
            <a:ext cx="64008" cy="182880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38912" y="100584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Эмерджентность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38912" y="1408176"/>
            <a:ext cx="2423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Глобально сложное поведение возникает из простых локальных правил — без централизованного планирования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487282" y="914400"/>
            <a:ext cx="2697600" cy="18288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423382" y="914388"/>
            <a:ext cx="63900" cy="1828800"/>
          </a:xfrm>
          <a:prstGeom prst="rect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624474" y="1005840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Самоорганизация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624499" y="1408176"/>
            <a:ext cx="2423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Порядок появляется спонтанно за счёт внутренних взаимодействий, без внешнего управления или лидера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273625" y="3058345"/>
            <a:ext cx="365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Правила Boids (К. Рейнольдс)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273625" y="3478969"/>
            <a:ext cx="237600" cy="237600"/>
          </a:xfrm>
          <a:prstGeom prst="rect">
            <a:avLst/>
          </a:prstGeom>
          <a:solidFill>
            <a:srgbClr val="00C8FF">
              <a:alpha val="25099"/>
            </a:srgbClr>
          </a:solidFill>
          <a:ln cap="flat" cmpd="sng" w="12700">
            <a:solidFill>
              <a:srgbClr val="00C8FF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1273625" y="3478969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593665" y="3460681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Избегание столкновений с ближайшими соседями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273625" y="3881305"/>
            <a:ext cx="237600" cy="237600"/>
          </a:xfrm>
          <a:prstGeom prst="rect">
            <a:avLst/>
          </a:prstGeom>
          <a:solidFill>
            <a:srgbClr val="00C8FF">
              <a:alpha val="25099"/>
            </a:srgbClr>
          </a:solidFill>
          <a:ln cap="flat" cmpd="sng" w="12700">
            <a:solidFill>
              <a:srgbClr val="00C8FF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273625" y="3881305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593665" y="3863017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Выравнивание скорости и направления со стаей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273625" y="4283641"/>
            <a:ext cx="237600" cy="237600"/>
          </a:xfrm>
          <a:prstGeom prst="rect">
            <a:avLst/>
          </a:prstGeom>
          <a:solidFill>
            <a:srgbClr val="00C8FF">
              <a:alpha val="25099"/>
            </a:srgbClr>
          </a:solidFill>
          <a:ln cap="flat" cmpd="sng" w="12700">
            <a:solidFill>
              <a:srgbClr val="00C8FF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273625" y="4283641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593665" y="4265353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Притяжение — стремление держаться в центре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329" y="914404"/>
            <a:ext cx="2423176" cy="3634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Математические методы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93550" y="914400"/>
            <a:ext cx="8630400" cy="416940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193538" y="914400"/>
            <a:ext cx="8630400" cy="420600"/>
          </a:xfrm>
          <a:prstGeom prst="rect">
            <a:avLst/>
          </a:prstGeom>
          <a:solidFill>
            <a:srgbClr val="3FECB8">
              <a:alpha val="80000"/>
            </a:srgbClr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93607" y="932700"/>
            <a:ext cx="853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Модель Вицека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499600"/>
            <a:ext cx="4040075" cy="227100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9"/>
              </a:srgbClr>
            </a:outerShdw>
          </a:effectLst>
        </p:spPr>
      </p:pic>
      <p:sp>
        <p:nvSpPr>
          <p:cNvPr id="124" name="Google Shape;124;p4"/>
          <p:cNvSpPr txBox="1"/>
          <p:nvPr/>
        </p:nvSpPr>
        <p:spPr>
          <a:xfrm>
            <a:off x="5034625" y="1830150"/>
            <a:ext cx="338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EFEFE"/>
                </a:solidFill>
              </a:rPr>
              <a:t>Фазовый переход от хаоса к порядку</a:t>
            </a:r>
            <a:endParaRPr sz="1350">
              <a:solidFill>
                <a:srgbClr val="FEFEFE"/>
              </a:solidFill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197925" y="2194500"/>
            <a:ext cx="2685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BFBF"/>
                </a:solidFill>
              </a:rPr>
              <a:t>Модель демонстрирует, как простые локальные правила приводят к возникновению глобального упорядоченного движения.</a:t>
            </a:r>
            <a:endParaRPr sz="1050">
              <a:solidFill>
                <a:srgbClr val="BFBFBF"/>
              </a:solidFill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83050" y="3891625"/>
            <a:ext cx="73659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Модель Вицека иллюстрирует фазовый переход от хаоса к упорядоченному движению при уменьшении случайного шума и увеличении взаимодействий.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Формула (в упрощённой форме):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89850" y="4351988"/>
            <a:ext cx="9144002" cy="64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3c4f99386_0_15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3c4f99386_0_15"/>
          <p:cNvSpPr/>
          <p:nvPr/>
        </p:nvSpPr>
        <p:spPr>
          <a:xfrm>
            <a:off x="411480" y="0"/>
            <a:ext cx="8229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Архитектурные подходы к децентрализации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d3c4f9938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00" y="749700"/>
            <a:ext cx="8898801" cy="44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62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Техническая архитектура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4320" y="914400"/>
            <a:ext cx="2651760" cy="393192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11480" y="10058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Протоколы связи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5760" y="1463040"/>
            <a:ext cx="2377440" cy="7132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02920" y="151790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Wi-Fi Mesh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2920" y="17373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+ Высокая скорость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02920" y="19202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- Много энергии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760" y="2286000"/>
            <a:ext cx="2377440" cy="7132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02920" y="234086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ZigBee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" y="256032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+ Мало энергии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02920" y="274320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- Малая дальность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5760" y="3108960"/>
            <a:ext cx="2377440" cy="7132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02920" y="316382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LoRaWAN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02920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+ До 15 км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" y="35661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- Низкая скорость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65760" y="3931920"/>
            <a:ext cx="2377440" cy="7132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8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502920" y="398678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Оптика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02920" y="42062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+ Без радиопомех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02920" y="438912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- Только прямая видимость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46120" y="914400"/>
            <a:ext cx="2651760" cy="393192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383280" y="10058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Локальные решения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Каждый робот принимает решения только на основе информации от соседей в радиусе восприятия.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Ни один узел не обрабатывает данные всего роя — ключевое условие масштабируемости.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Нагрузка: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O(1) на узел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291840" y="4279392"/>
            <a:ext cx="2468880" cy="438912"/>
          </a:xfrm>
          <a:prstGeom prst="rect">
            <a:avLst/>
          </a:prstGeom>
          <a:solidFill>
            <a:srgbClr val="FF6B6B">
              <a:alpha val="18039"/>
            </a:srgbClr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401568" y="42976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Аутентификация: mTLS (взаимные сертификаты)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217920" y="914400"/>
            <a:ext cx="2651760" cy="393192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355080" y="10058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CRDT-хранение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355080" y="1417320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Автоматическое слияние данных без конфликтов и без центра координации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309360" y="2157984"/>
            <a:ext cx="2377440" cy="548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419088" y="218541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LWWRegister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419088" y="2404872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Одно значение; побеждает последняя запись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309360" y="2816352"/>
            <a:ext cx="2377440" cy="548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419088" y="2843784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GCounter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419088" y="3063240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Счётчик — только вверх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309360" y="3474720"/>
            <a:ext cx="2377440" cy="548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419088" y="3502152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PNCounter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419088" y="3721608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Счётчик — вверх и вниз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309360" y="4133088"/>
            <a:ext cx="2377440" cy="548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419088" y="4160520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ORSet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419088" y="4379976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Множество для распределённых задач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Практическое применение роевых технологий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74320" y="914400"/>
            <a:ext cx="2697480" cy="393192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11480" y="1005840"/>
            <a:ext cx="548640" cy="384048"/>
          </a:xfrm>
          <a:prstGeom prst="rect">
            <a:avLst/>
          </a:prstGeom>
          <a:solidFill>
            <a:srgbClr val="00C8FF">
              <a:alpha val="80000"/>
            </a:srgbClr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11480" y="100584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51560" y="1005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Поиск и спасение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1545336"/>
            <a:ext cx="128016" cy="128016"/>
          </a:xfrm>
          <a:prstGeom prst="ellipse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58368" y="148132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БПЛА достигают опасных зон без риска для людей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2112264"/>
            <a:ext cx="128016" cy="128016"/>
          </a:xfrm>
          <a:prstGeom prst="ellipse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658368" y="2048256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Тепловизоры + ML для обнаружения пострадавших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2679192"/>
            <a:ext cx="128016" cy="128016"/>
          </a:xfrm>
          <a:prstGeom prst="ellipse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658368" y="26151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Многодроновые группы расширяют зону покрытия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3246120"/>
            <a:ext cx="128016" cy="128016"/>
          </a:xfrm>
          <a:prstGeom prst="ellipse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658368" y="31821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Доставка без центрального оператора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227832" y="914400"/>
            <a:ext cx="2697480" cy="393192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364992" y="1005840"/>
            <a:ext cx="548640" cy="384048"/>
          </a:xfrm>
          <a:prstGeom prst="rect">
            <a:avLst/>
          </a:prstGeom>
          <a:solidFill>
            <a:srgbClr val="3FECB8">
              <a:alpha val="80000"/>
            </a:srgbClr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3364992" y="100584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005072" y="1005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Мониторинг и сельское хозяйство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410712" y="1545336"/>
            <a:ext cx="128016" cy="128016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3611880" y="148132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Воздух, температура, влажность, растительность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410712" y="2112264"/>
            <a:ext cx="128016" cy="128016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611880" y="2048256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Автономное деление территории на секторы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10712" y="2679192"/>
            <a:ext cx="128016" cy="128016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3611880" y="26151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Оптимизация маршрутов по принципу муравьёв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410712" y="3246120"/>
            <a:ext cx="128016" cy="128016"/>
          </a:xfrm>
          <a:prstGeom prst="ellipse">
            <a:avLst/>
          </a:prstGeom>
          <a:solidFill>
            <a:srgbClr val="3FECB8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611880" y="31821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 Swarmies — добыча ресурсов на Марсе (2030–40)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181344" y="914400"/>
            <a:ext cx="2697480" cy="3931920"/>
          </a:xfrm>
          <a:prstGeom prst="rect">
            <a:avLst/>
          </a:prstGeom>
          <a:solidFill>
            <a:srgbClr val="0B162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6318504" y="1005840"/>
            <a:ext cx="548640" cy="384048"/>
          </a:xfrm>
          <a:prstGeom prst="rect">
            <a:avLst/>
          </a:prstGeom>
          <a:solidFill>
            <a:srgbClr val="FF6B6B">
              <a:alpha val="8000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6318504" y="100584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958584" y="1005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Оборона и подводный мониторинг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364224" y="1545336"/>
            <a:ext cx="128016" cy="128016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565392" y="148132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OFFSET: разведка в городской среде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364224" y="2112264"/>
            <a:ext cx="128016" cy="128016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565392" y="2048256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Perdix: 103 дрона, коллективные решения, без лидера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364224" y="2679192"/>
            <a:ext cx="128016" cy="128016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565392" y="26151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CoCoRo: 41 подводный аппарат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364224" y="3246120"/>
            <a:ext cx="128016" cy="128016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565392" y="3182112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Экологический мониторинг рек и океанов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628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Сравнение архитектур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274320" y="914400"/>
            <a:ext cx="2057400" cy="47548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365760" y="9144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Характеристика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423160" y="914400"/>
            <a:ext cx="2057400" cy="47548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2514600" y="9144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P2P (Mesh)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0" y="914400"/>
            <a:ext cx="2057400" cy="475488"/>
          </a:xfrm>
          <a:prstGeom prst="rect">
            <a:avLst/>
          </a:prstGeom>
          <a:solidFill>
            <a:srgbClr val="3FECB8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663440" y="9144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B1628"/>
                </a:solidFill>
                <a:latin typeface="Calibri"/>
                <a:ea typeface="Calibri"/>
                <a:cs typeface="Calibri"/>
                <a:sym typeface="Calibri"/>
              </a:rPr>
              <a:t>SoNS (гибрид)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720840" y="914400"/>
            <a:ext cx="2148840" cy="47548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6812280" y="91440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Централизованная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74320" y="1389888"/>
            <a:ext cx="205740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65760" y="1389888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Наличие лидера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423160" y="1389888"/>
            <a:ext cx="205740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2514600" y="1389888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572000" y="1389888"/>
            <a:ext cx="2057400" cy="493776"/>
          </a:xfrm>
          <a:prstGeom prst="rect">
            <a:avLst/>
          </a:prstGeom>
          <a:solidFill>
            <a:srgbClr val="143328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663440" y="1389888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Динамический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720840" y="1389888"/>
            <a:ext cx="214884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812280" y="1389888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Единый центр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274320" y="1883664"/>
            <a:ext cx="205740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365760" y="1883664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Масштабируемость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2423160" y="1883664"/>
            <a:ext cx="205740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2514600" y="1883664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Высокая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572000" y="1883664"/>
            <a:ext cx="2057400" cy="493776"/>
          </a:xfrm>
          <a:prstGeom prst="rect">
            <a:avLst/>
          </a:prstGeom>
          <a:solidFill>
            <a:srgbClr val="0F262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663440" y="1883664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Очень высокая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720840" y="1883664"/>
            <a:ext cx="214884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812280" y="1883664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Низкая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74320" y="2377440"/>
            <a:ext cx="205740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65760" y="2377440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Отказоустойчивость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423160" y="2377440"/>
            <a:ext cx="205740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2514600" y="2377440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Высокая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0" y="2377440"/>
            <a:ext cx="2057400" cy="493776"/>
          </a:xfrm>
          <a:prstGeom prst="rect">
            <a:avLst/>
          </a:prstGeom>
          <a:solidFill>
            <a:srgbClr val="143328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663440" y="2377440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Высокая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720840" y="2377440"/>
            <a:ext cx="214884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812280" y="2377440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Низкая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74320" y="2871216"/>
            <a:ext cx="205740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365760" y="2871216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Координация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2423160" y="2871216"/>
            <a:ext cx="205740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2514600" y="2871216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Сложная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0" y="2871216"/>
            <a:ext cx="2057400" cy="493776"/>
          </a:xfrm>
          <a:prstGeom prst="rect">
            <a:avLst/>
          </a:prstGeom>
          <a:solidFill>
            <a:srgbClr val="0F262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663440" y="2871216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Эффективная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720840" y="2871216"/>
            <a:ext cx="214884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6812280" y="2871216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Простая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274320" y="3364992"/>
            <a:ext cx="205740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65760" y="3364992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Нагрузка на узел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423160" y="3364992"/>
            <a:ext cx="205740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2514600" y="3364992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O(n) всего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572000" y="3364992"/>
            <a:ext cx="2057400" cy="493776"/>
          </a:xfrm>
          <a:prstGeom prst="rect">
            <a:avLst/>
          </a:prstGeom>
          <a:solidFill>
            <a:srgbClr val="143328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663440" y="3364992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O(1) на узел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720840" y="3364992"/>
            <a:ext cx="2148840" cy="49377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812280" y="3364992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O(n) на центр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274320" y="3858768"/>
            <a:ext cx="205740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365760" y="3858768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2423160" y="3858768"/>
            <a:ext cx="205740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2514600" y="3858768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Mesh-сети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572000" y="3858768"/>
            <a:ext cx="2057400" cy="493776"/>
          </a:xfrm>
          <a:prstGeom prst="rect">
            <a:avLst/>
          </a:prstGeom>
          <a:solidFill>
            <a:srgbClr val="0F262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663440" y="3858768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SoNS (VUB, 2024)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720840" y="3858768"/>
            <a:ext cx="2148840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812280" y="3858768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Kiva (Amazon)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62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Проблемы реализации и перспективы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74320" y="914400"/>
            <a:ext cx="3931920" cy="310896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57200" y="100584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Нерешённые вопросы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57200" y="146304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Безопасность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57200" y="16916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Аутентификация без сервера → mTLS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57200" y="210312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Консенсус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57200" y="2331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Иерархическая агрегация + динамическое переизбрание лидера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57200" y="274320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Отладка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57200" y="29718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ARGoS (до 10 000 агентов) и Gazebo (3D + физика)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57200" y="3383280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Глобальная согласованность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57200" y="3611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8C0"/>
                </a:solidFill>
                <a:latin typeface="Calibri"/>
                <a:ea typeface="Calibri"/>
                <a:cs typeface="Calibri"/>
                <a:sym typeface="Calibri"/>
              </a:rPr>
              <a:t>Только на локальных взаимодействиях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937760" y="914400"/>
            <a:ext cx="3931920" cy="310896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5120640" y="100584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Перспективы 2030–2040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074920" y="1481328"/>
            <a:ext cx="274320" cy="274320"/>
          </a:xfrm>
          <a:prstGeom prst="rect">
            <a:avLst/>
          </a:prstGeom>
          <a:solidFill>
            <a:srgbClr val="3FECB8">
              <a:alpha val="27843"/>
            </a:srgbClr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074920" y="14813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440680" y="1463040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Биоинспирация + машинное обучение для адаптивных роёв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074920" y="2103120"/>
            <a:ext cx="274320" cy="274320"/>
          </a:xfrm>
          <a:prstGeom prst="rect">
            <a:avLst/>
          </a:prstGeom>
          <a:solidFill>
            <a:srgbClr val="3FECB8">
              <a:alpha val="27843"/>
            </a:srgbClr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507492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440680" y="2084832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Морские и подводные миссии — рои UUV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074920" y="2724912"/>
            <a:ext cx="274320" cy="274320"/>
          </a:xfrm>
          <a:prstGeom prst="rect">
            <a:avLst/>
          </a:prstGeom>
          <a:solidFill>
            <a:srgbClr val="3FECB8">
              <a:alpha val="27843"/>
            </a:srgbClr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074920" y="27249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440680" y="2706624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Внепланетные задачи: Луна, Марс (NASA Swarmies)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074920" y="3346704"/>
            <a:ext cx="274320" cy="274320"/>
          </a:xfrm>
          <a:prstGeom prst="rect">
            <a:avLst/>
          </a:prstGeom>
          <a:solidFill>
            <a:srgbClr val="3FECB8">
              <a:alpha val="27843"/>
            </a:srgbClr>
          </a:solidFill>
          <a:ln cap="flat" cmpd="sng" w="12700">
            <a:solidFill>
              <a:srgbClr val="3FE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5074920" y="33467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EC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FEC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5440680" y="3328416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Городская инфраструктура с тысячами БПЛА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00C8FF">
              <a:alpha val="12156"/>
            </a:srgbClr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02920" y="4187952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Вывод: SoNS + CRDT обеспечивают масштабируемость до 1000 роботов, плавную деградацию и децентрализованную синхронизацию — основа систем нового поколения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2026-03-31T17:07:50Z</dcterms:created>
  <dc:creator>PptxGenJS</dc:creator>
</cp:coreProperties>
</file>